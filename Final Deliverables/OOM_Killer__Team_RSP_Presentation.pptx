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60" y="1182"/>
      </p:cViewPr>
      <p:guideLst>
        <p:guide orient="horz" pos="215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8.png"  /><Relationship Id="rId4" Type="http://schemas.openxmlformats.org/officeDocument/2006/relationships/image" Target="../media/image8.png"  /><Relationship Id="rId5" Type="http://schemas.openxmlformats.org/officeDocument/2006/relationships/image" Target="../media/image11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42186" y="4385547"/>
            <a:ext cx="1430655" cy="2343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917948" y="1506867"/>
            <a:ext cx="11502651" cy="31515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6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rPr>
              <a:t>Conversational</a:t>
            </a:r>
          </a:p>
          <a:p>
            <a:pPr algn="l">
              <a:lnSpc>
                <a:spcPct val="100000"/>
              </a:lnSpc>
            </a:pPr>
            <a:r>
              <a:rPr lang="en-US" sz="6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rPr>
              <a:t>OOM Killer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7948" y="3431894"/>
            <a:ext cx="4270080" cy="51686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424">
                <a:solidFill>
                  <a:schemeClr val="dk1">
                    <a:alpha val="100000"/>
                  </a:schemeClr>
                </a:solidFill>
                <a:latin typeface="Arial"/>
                <a:ea typeface="Arial"/>
                <a:cs typeface="Arial"/>
              </a:rPr>
              <a:t>Team RSP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06909-435A-6F22-0444-4A48FA165738}"/>
              </a:ext>
            </a:extLst>
          </p:cNvPr>
          <p:cNvSpPr txBox="1"/>
          <p:nvPr/>
        </p:nvSpPr>
        <p:spPr>
          <a:xfrm>
            <a:off x="917948" y="4285406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2026 1</a:t>
            </a:r>
            <a:r>
              <a:rPr lang="en-US" altLang="ko-KR" baseline="30000"/>
              <a:t>st</a:t>
            </a:r>
            <a:r>
              <a:rPr lang="en-US" altLang="ko-KR"/>
              <a:t> semester kus-operating-system project 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F2B3FB-0489-337D-E42E-62037ED33984}"/>
              </a:ext>
            </a:extLst>
          </p:cNvPr>
          <p:cNvSpPr txBox="1"/>
          <p:nvPr/>
        </p:nvSpPr>
        <p:spPr>
          <a:xfrm>
            <a:off x="917948" y="3890571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👑노혁준</a:t>
            </a:r>
            <a:r>
              <a:rPr lang="en-US" altLang="ko-KR"/>
              <a:t> </a:t>
            </a:r>
            <a:r>
              <a:rPr lang="ko-KR" altLang="en-US"/>
              <a:t>백선하 이승원 강규현 이유진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The Problem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Out of memory, the OS must kill a process. But how does it choose?</a:t>
            </a:r>
            <a:endParaRPr lang="en-US" sz="1800"/>
          </a:p>
        </p:txBody>
      </p:sp>
      <p:sp>
        <p:nvSpPr>
          <p:cNvPr id="23" name="Shape 2"/>
          <p:cNvSpPr/>
          <p:nvPr/>
        </p:nvSpPr>
        <p:spPr>
          <a:xfrm>
            <a:off x="640619" y="1638300"/>
            <a:ext cx="10881360" cy="990600"/>
          </a:xfrm>
          <a:prstGeom prst="roundRect">
            <a:avLst>
              <a:gd name="adj" fmla="val 16471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pPr algn="ctr">
              <a:defRPr/>
            </a:pPr>
            <a:endParaRPr lang="en-US" altLang="ko-KR" b="1">
              <a:solidFill>
                <a:srgbClr val="57111c"/>
              </a:solidFill>
              <a:latin typeface="Arial"/>
              <a:ea typeface="Arial"/>
              <a:cs typeface="Arial"/>
            </a:endParaRPr>
          </a:p>
          <a:p>
            <a:pPr algn="ctr">
              <a:defRPr/>
            </a:pP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Scenario:  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You are coding in </a:t>
            </a:r>
            <a:r>
              <a:rPr lang="en-US" altLang="ko-KR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VS Code (2 GB)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  with an idle </a:t>
            </a:r>
            <a:r>
              <a:rPr lang="en-US" altLang="ko-KR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Chrome (2.5 GB)</a:t>
            </a:r>
            <a:r>
              <a:rPr lang="en-US" altLang="ko-KR">
                <a:solidFill>
                  <a:srgbClr val="292621"/>
                </a:solidFill>
                <a:latin typeface="Arial"/>
                <a:ea typeface="Arial"/>
                <a:cs typeface="Arial"/>
              </a:rPr>
              <a:t> in the background.</a:t>
            </a:r>
            <a:endParaRPr lang="en-US" altLang="ko-KR"/>
          </a:p>
        </p:txBody>
      </p:sp>
      <p:sp>
        <p:nvSpPr>
          <p:cNvPr id="25" name="Shape 4"/>
          <p:cNvSpPr/>
          <p:nvPr/>
        </p:nvSpPr>
        <p:spPr>
          <a:xfrm>
            <a:off x="691740" y="2960162"/>
            <a:ext cx="5257800" cy="1828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 5"/>
          <p:cNvSpPr/>
          <p:nvPr/>
        </p:nvSpPr>
        <p:spPr>
          <a:xfrm>
            <a:off x="966060" y="318876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Default OOM Killer</a:t>
            </a:r>
            <a:endParaRPr lang="en-US" sz="1800"/>
          </a:p>
        </p:txBody>
      </p:sp>
      <p:sp>
        <p:nvSpPr>
          <p:cNvPr id="27" name="Text 6"/>
          <p:cNvSpPr/>
          <p:nvPr/>
        </p:nvSpPr>
        <p:spPr>
          <a:xfrm>
            <a:off x="966060" y="360024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>
                <a:solidFill>
                  <a:srgbClr val="6b6862"/>
                </a:solidFill>
                <a:latin typeface="Arial"/>
                <a:ea typeface="Arial"/>
                <a:cs typeface="Arial"/>
              </a:rPr>
              <a:t>Picks the biggest by oom_score</a:t>
            </a:r>
            <a:endParaRPr lang="en-US" sz="1350"/>
          </a:p>
        </p:txBody>
      </p:sp>
      <p:sp>
        <p:nvSpPr>
          <p:cNvPr id="28" name="Text 7"/>
          <p:cNvSpPr/>
          <p:nvPr/>
        </p:nvSpPr>
        <p:spPr>
          <a:xfrm>
            <a:off x="966060" y="410316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700">
                <a:solidFill>
                  <a:srgbClr val="292621"/>
                </a:solidFill>
                <a:latin typeface="Arial"/>
                <a:ea typeface="Arial"/>
                <a:cs typeface="Arial"/>
              </a:rPr>
              <a:t> kills </a:t>
            </a:r>
            <a:r>
              <a:rPr lang="en-US" sz="1700" b="1">
                <a:solidFill>
                  <a:srgbClr val="c0392b"/>
                </a:solidFill>
                <a:latin typeface="Arial"/>
                <a:ea typeface="Arial"/>
                <a:cs typeface="Arial"/>
              </a:rPr>
              <a:t>VS Code</a:t>
            </a:r>
            <a:r>
              <a:rPr lang="en-US" sz="1700" i="1">
                <a:solidFill>
                  <a:srgbClr val="c0392b"/>
                </a:solidFill>
                <a:latin typeface="Arial"/>
                <a:ea typeface="Arial"/>
                <a:cs typeface="Arial"/>
              </a:rPr>
              <a:t>  (your work!)</a:t>
            </a:r>
            <a:endParaRPr lang="en-US" sz="1700" i="1">
              <a:solidFill>
                <a:srgbClr val="c039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6265144" y="2960162"/>
            <a:ext cx="5257800" cy="1828800"/>
          </a:xfrm>
          <a:prstGeom prst="roundRect">
            <a:avLst>
              <a:gd name="adj" fmla="val 8000"/>
            </a:avLst>
          </a:prstGeom>
          <a:solidFill>
            <a:schemeClr val="accent3">
              <a:lumMod val="40000"/>
              <a:lumOff val="6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0" name="Text 9"/>
          <p:cNvSpPr/>
          <p:nvPr/>
        </p:nvSpPr>
        <p:spPr>
          <a:xfrm>
            <a:off x="6539464" y="318876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What the user actually wants</a:t>
            </a:r>
            <a:endParaRPr lang="en-US" sz="1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 10"/>
          <p:cNvSpPr/>
          <p:nvPr/>
        </p:nvSpPr>
        <p:spPr>
          <a:xfrm>
            <a:off x="6539464" y="360024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i="1">
                <a:latin typeface="Arial"/>
                <a:ea typeface="Arial"/>
                <a:cs typeface="Arial"/>
              </a:rPr>
              <a:t>"Never kill VS Code </a:t>
            </a:r>
            <a:r>
              <a:rPr lang="en-US" altLang="ko-KR" sz="1500" i="1">
                <a:latin typeface="Arial"/>
                <a:ea typeface="Arial"/>
                <a:cs typeface="Arial"/>
              </a:rPr>
              <a:t>-</a:t>
            </a:r>
            <a:r>
              <a:rPr lang="en-US" sz="1500" i="1">
                <a:latin typeface="Arial"/>
                <a:ea typeface="Arial"/>
                <a:cs typeface="Arial"/>
              </a:rPr>
              <a:t> Chrome is fine."</a:t>
            </a:r>
            <a:endParaRPr lang="en-US" sz="1500" i="1">
              <a:latin typeface="Arial"/>
              <a:ea typeface="Arial"/>
              <a:cs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6539464" y="410316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700">
                <a:latin typeface="Arial"/>
                <a:ea typeface="Arial"/>
                <a:cs typeface="Arial"/>
              </a:rPr>
              <a:t> should kill </a:t>
            </a:r>
            <a:r>
              <a:rPr lang="en-US" sz="17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Chrome</a:t>
            </a:r>
            <a:endParaRPr lang="en-US" sz="1700" b="1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638690" y="50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The kernel decides by size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user intent is never part of the decision.</a:t>
            </a:r>
            <a:endParaRPr lang="en-US" sz="1800" b="1">
              <a:solidFill>
                <a:srgbClr val="57111c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26" name="Picture 2" descr="oom killer Archives - LowEndBox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273140" y="3150662"/>
            <a:ext cx="1447800" cy="1447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677400" cy="6858000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 rot="0">
            <a:off x="4194843" y="704542"/>
            <a:ext cx="640080" cy="640080"/>
            <a:chOff x="6290588" y="2385799"/>
            <a:chExt cx="640080" cy="640080"/>
          </a:xfrm>
        </p:grpSpPr>
        <p:sp>
          <p:nvSpPr>
            <p:cNvPr id="9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987858" y="887395"/>
            <a:ext cx="3790950" cy="503252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Write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600" y="3004801"/>
            <a:ext cx="3027436" cy="754206"/>
          </a:xfrm>
          <a:prstGeom prst="rect">
            <a:avLst/>
          </a:prstGeom>
          <a:ln/>
        </p:spPr>
        <p:txBody>
          <a:bodyPr vert="horz" wrap="square" lIns="91440" tIns="45720" rIns="91440" bIns="4572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3849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Approach</a:t>
            </a:r>
            <a:endParaRPr lang="en-US" sz="3849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11" name="그룹 10"/>
          <p:cNvGrpSpPr/>
          <p:nvPr/>
        </p:nvGrpSpPr>
        <p:grpSpPr>
          <a:xfrm rot="0">
            <a:off x="4535002" y="2254019"/>
            <a:ext cx="640080" cy="640080"/>
            <a:chOff x="6290588" y="2385799"/>
            <a:chExt cx="640080" cy="640080"/>
          </a:xfrm>
        </p:grpSpPr>
        <p:sp>
          <p:nvSpPr>
            <p:cNvPr id="12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4" name="TextBox 4"/>
          <p:cNvSpPr txBox="1"/>
          <p:nvPr/>
        </p:nvSpPr>
        <p:spPr>
          <a:xfrm>
            <a:off x="5328017" y="2436871"/>
            <a:ext cx="3790950" cy="1294657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Interpret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5" name="그룹 14"/>
          <p:cNvGrpSpPr/>
          <p:nvPr/>
        </p:nvGrpSpPr>
        <p:grpSpPr>
          <a:xfrm rot="0">
            <a:off x="4382068" y="3850429"/>
            <a:ext cx="640080" cy="640080"/>
            <a:chOff x="6290588" y="2385799"/>
            <a:chExt cx="640080" cy="640080"/>
          </a:xfrm>
        </p:grpSpPr>
        <p:sp>
          <p:nvSpPr>
            <p:cNvPr id="16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7" name="TextBox 3"/>
            <p:cNvSpPr txBox="1"/>
            <p:nvPr/>
          </p:nvSpPr>
          <p:spPr>
            <a:xfrm>
              <a:off x="6324878" y="2471007"/>
              <a:ext cx="571500" cy="461665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30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30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" name="TextBox 4"/>
          <p:cNvSpPr txBox="1"/>
          <p:nvPr/>
        </p:nvSpPr>
        <p:spPr>
          <a:xfrm>
            <a:off x="5175083" y="4033281"/>
            <a:ext cx="3790950" cy="1294657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3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Validate</a:t>
            </a:r>
            <a:endParaRPr xmlns:mc="http://schemas.openxmlformats.org/markup-compatibility/2006" xmlns:hp="http://schemas.haansoft.com/office/presentation/8.0" lang="en-US" sz="3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5"/>
          <p:cNvSpPr/>
          <p:nvPr/>
        </p:nvSpPr>
        <p:spPr>
          <a:xfrm>
            <a:off x="4987858" y="1227301"/>
            <a:ext cx="56388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User writes priorities in plain natural language </a:t>
            </a:r>
            <a:r>
              <a:rPr lang="en-US" altLang="ko-KR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500">
                <a:solidFill>
                  <a:srgbClr val="292621"/>
                </a:solidFill>
                <a:latin typeface="Arial"/>
                <a:ea typeface="Arial"/>
                <a:cs typeface="Arial"/>
              </a:rPr>
              <a:t> no config files.</a:t>
            </a:r>
            <a:endParaRPr lang="en-US" sz="15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5328017" y="2695579"/>
            <a:ext cx="5638800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latin typeface="Arial"/>
                <a:cs typeface="Arial"/>
              </a:rPr>
              <a:t>On memory pressure, an LLM (Solar Pro, temp = 0) reads the policy and returns victims as JSON</a:t>
            </a:r>
            <a:endParaRPr lang="en-US" sz="1500">
              <a:latin typeface="Arial"/>
              <a:cs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5175082" y="4426655"/>
            <a:ext cx="6046277" cy="7772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latin typeface="Arial"/>
                <a:cs typeface="Arial"/>
              </a:rPr>
              <a:t>A deterministic C validator protects system processes </a:t>
            </a:r>
            <a:r>
              <a:rPr lang="en-US" altLang="ko-KR" sz="1500">
                <a:latin typeface="Arial"/>
                <a:cs typeface="Arial"/>
              </a:rPr>
              <a:t>-</a:t>
            </a:r>
            <a:r>
              <a:rPr lang="en-US" sz="1500">
                <a:latin typeface="Arial"/>
                <a:cs typeface="Arial"/>
              </a:rPr>
              <a:t> the final gate</a:t>
            </a:r>
            <a:endParaRPr lang="en-US" sz="1500">
              <a:latin typeface="Arial"/>
              <a:cs typeface="Arial"/>
            </a:endParaRPr>
          </a:p>
        </p:txBody>
      </p:sp>
      <p:grpSp>
        <p:nvGrpSpPr>
          <p:cNvPr id="25" name="그룹 24"/>
          <p:cNvGrpSpPr/>
          <p:nvPr/>
        </p:nvGrpSpPr>
        <p:grpSpPr>
          <a:xfrm rot="0">
            <a:off x="4038601" y="5285324"/>
            <a:ext cx="7182758" cy="1280160"/>
            <a:chOff x="640080" y="4114800"/>
            <a:chExt cx="10835640" cy="128016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26" name="Shape 16"/>
            <p:cNvSpPr/>
            <p:nvPr/>
          </p:nvSpPr>
          <p:spPr>
            <a:xfrm>
              <a:off x="640080" y="4114800"/>
              <a:ext cx="10835640" cy="1280160"/>
            </a:xfrm>
            <a:prstGeom prst="roundRect">
              <a:avLst>
                <a:gd name="adj" fmla="val 11429"/>
              </a:avLst>
            </a:prstGeom>
            <a:grpFill/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27" name="Text 17"/>
            <p:cNvSpPr/>
            <p:nvPr/>
          </p:nvSpPr>
          <p:spPr>
            <a:xfrm>
              <a:off x="914400" y="4279392"/>
              <a:ext cx="3657600" cy="320040"/>
            </a:xfrm>
            <a:prstGeom prst="rect">
              <a:avLst/>
            </a:prstGeom>
            <a:grpFill/>
            <a:ln/>
          </p:spPr>
          <p:txBody>
            <a:bodyPr wrap="square" lIns="0" tIns="0" rIns="0" bIns="0" anchor="ctr"/>
            <a:lstStyle/>
            <a:p>
              <a:pPr marL="0" indent="0">
                <a:buNone/>
                <a:defRPr/>
              </a:pPr>
              <a:r>
                <a:rPr lang="en-US" sz="1200" b="1" kern="0" spc="200">
                  <a:solidFill>
                    <a:schemeClr val="accent1">
                      <a:lumMod val="75000"/>
                    </a:schemeClr>
                  </a:solidFill>
                  <a:latin typeface="Arial"/>
                  <a:ea typeface="Arial"/>
                  <a:cs typeface="Arial"/>
                </a:rPr>
                <a:t>KEY IDEA</a:t>
              </a:r>
              <a:endParaRPr lang="en-US" sz="120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Text 18"/>
            <p:cNvSpPr/>
            <p:nvPr/>
          </p:nvSpPr>
          <p:spPr>
            <a:xfrm>
              <a:off x="914400" y="4617720"/>
              <a:ext cx="10241280" cy="640080"/>
            </a:xfrm>
            <a:prstGeom prst="rect">
              <a:avLst/>
            </a:prstGeom>
            <a:grpFill/>
            <a:ln/>
          </p:spPr>
          <p:txBody>
            <a:bodyPr wrap="square" lIns="0" tIns="0" rIns="0" bIns="0" anchor="ctr"/>
            <a:lstStyle/>
            <a:p>
              <a:pPr marL="0" indent="0">
                <a:buNone/>
                <a:defRPr/>
              </a:pP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The LLM only suggests</a:t>
              </a:r>
              <a:endParaRPr lang="en-US" sz="2100" i="1">
                <a:ln w="0"/>
                <a:latin typeface="Arial"/>
                <a:ea typeface="Arial"/>
                <a:cs typeface="Arial"/>
              </a:endParaRPr>
            </a:p>
            <a:p>
              <a:pPr marL="0" indent="0">
                <a:buNone/>
                <a:defRPr/>
              </a:pP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 </a:t>
              </a:r>
              <a:r>
                <a:rPr lang="en-US" altLang="ko-KR" sz="2100" i="1">
                  <a:ln w="0"/>
                  <a:latin typeface="Arial"/>
                  <a:ea typeface="Arial"/>
                  <a:cs typeface="Arial"/>
                </a:rPr>
                <a:t>-</a:t>
              </a:r>
              <a:r>
                <a:rPr lang="en-US" sz="2100" i="1">
                  <a:ln w="0"/>
                  <a:latin typeface="Arial"/>
                  <a:ea typeface="Arial"/>
                  <a:cs typeface="Arial"/>
                </a:rPr>
                <a:t> the OS makes the final decision</a:t>
              </a:r>
              <a:r>
                <a:rPr xmlns:mc="http://schemas.openxmlformats.org/markup-compatibility/2006" xmlns:hp="http://schemas.haansoft.com/office/presentation/8.0" lang="en-US" sz="2100" i="1" mc:Ignorable="hp" hp:hslEmbossed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Arial"/>
                  <a:ea typeface="Arial"/>
                  <a:cs typeface="Arial"/>
                </a:rPr>
                <a:t>.</a:t>
              </a:r>
              <a:endParaRPr xmlns:mc="http://schemas.openxmlformats.org/markup-compatibility/2006" xmlns:hp="http://schemas.haansoft.com/office/presentation/8.0" lang="en-US" sz="2100" i="1" mc:Ignorable="hp" hp:hslEmbossed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anchor="ctr" anchorCtr="0">
            <a:no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Architecture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8002" y="1804330"/>
            <a:ext cx="3309037" cy="37061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30402" y="1768642"/>
            <a:ext cx="3330421" cy="3740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14785" y="1752600"/>
            <a:ext cx="3300737" cy="37408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10" name="Flow Arrow 1"/>
          <p:cNvSpPr/>
          <p:nvPr/>
        </p:nvSpPr>
        <p:spPr>
          <a:xfrm>
            <a:off x="3800000" y="3470000"/>
            <a:ext cx="560000" cy="34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1caa0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11" name="Flow Arrow 2"/>
          <p:cNvSpPr/>
          <p:nvPr/>
        </p:nvSpPr>
        <p:spPr>
          <a:xfrm>
            <a:off x="7800000" y="3470000"/>
            <a:ext cx="560000" cy="340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11caa0"/>
          </a:solidFill>
          <a:ln>
            <a:noFill/>
          </a:ln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914" name="Flow Caption"/>
          <p:cNvSpPr txBox="1"/>
          <p:nvPr/>
        </p:nvSpPr>
        <p:spPr>
          <a:xfrm>
            <a:off x="190500" y="5840800"/>
            <a:ext cx="11811000" cy="5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/>
            </a:pPr>
            <a:r>
              <a:rPr lang="en-US" sz="1600" b="1">
                <a:solidFill>
                  <a:schemeClr val="tx1"/>
                </a:solidFill>
              </a:rPr>
              <a:t>PSI detects pressure  -&gt;  coomd collects /proc candidates  -&gt;  LLM picks victim (JSON via pipe)  -&gt;  Validator checks  -&gt;  SIGTERM -&gt; SIGKILL</a:t>
            </a:r>
            <a:endParaRPr 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Tech Stack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Three stages, one pipeline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C does the OS work, the LLM just advises.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1" name="Shape 8"/>
          <p:cNvSpPr/>
          <p:nvPr/>
        </p:nvSpPr>
        <p:spPr>
          <a:xfrm>
            <a:off x="70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02" name="h"/>
          <p:cNvSpPr/>
          <p:nvPr/>
        </p:nvSpPr>
        <p:spPr>
          <a:xfrm>
            <a:off x="82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Daemon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3" name="s"/>
          <p:cNvSpPr/>
          <p:nvPr/>
        </p:nvSpPr>
        <p:spPr>
          <a:xfrm>
            <a:off x="82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written in C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04" name="b"/>
          <p:cNvSpPr/>
          <p:nvPr/>
        </p:nvSpPr>
        <p:spPr>
          <a:xfrm>
            <a:off x="9610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226df6"/>
                </a:solidFill>
                <a:latin typeface="Arial"/>
                <a:cs typeface="Arial"/>
              </a:rPr>
              <a:t>Main loop + policy load</a:t>
            </a: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fork + exec -&gt; Python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pipe + dup2 (JSON IPC)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SIGTERM -&gt; SIGKILL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Validator guards every kill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5" name="arrow"/>
          <p:cNvSpPr/>
          <p:nvPr/>
        </p:nvSpPr>
        <p:spPr>
          <a:xfrm>
            <a:off x="4021000" y="3005000"/>
            <a:ext cx="380000" cy="6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226df6"/>
                </a:solidFill>
                <a:latin typeface="Arial"/>
                <a:cs typeface="Arial"/>
              </a:rPr>
              <a:t>→</a:t>
            </a:r>
            <a:endParaRPr lang="en-US" sz="36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06" name="Shape 8"/>
          <p:cNvSpPr/>
          <p:nvPr/>
        </p:nvSpPr>
        <p:spPr>
          <a:xfrm>
            <a:off x="447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07" name="h"/>
          <p:cNvSpPr/>
          <p:nvPr/>
        </p:nvSpPr>
        <p:spPr>
          <a:xfrm>
            <a:off x="459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c0392b"/>
                </a:solidFill>
                <a:latin typeface="Arial"/>
                <a:cs typeface="Arial"/>
              </a:rPr>
              <a:t>LLM Helper</a:t>
            </a:r>
            <a:endParaRPr lang="en-US" sz="22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08" name="s"/>
          <p:cNvSpPr/>
          <p:nvPr/>
        </p:nvSpPr>
        <p:spPr>
          <a:xfrm>
            <a:off x="459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written in Python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09" name="b"/>
          <p:cNvSpPr/>
          <p:nvPr/>
        </p:nvSpPr>
        <p:spPr>
          <a:xfrm>
            <a:off x="47244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c0392b"/>
                </a:solidFill>
                <a:latin typeface="Arial"/>
                <a:cs typeface="Arial"/>
              </a:rPr>
              <a:t>Upstage Solar Pro</a:t>
            </a:r>
            <a:endParaRPr lang="en-US" sz="135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temperature = 0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JSON response mode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Mock fallback if no key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one-shot stdin -&gt; stdout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10" name="arrow"/>
          <p:cNvSpPr/>
          <p:nvPr/>
        </p:nvSpPr>
        <p:spPr>
          <a:xfrm>
            <a:off x="7791000" y="3005000"/>
            <a:ext cx="380000" cy="6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226df6"/>
                </a:solidFill>
                <a:latin typeface="Arial"/>
                <a:cs typeface="Arial"/>
              </a:rPr>
              <a:t>→</a:t>
            </a:r>
            <a:endParaRPr lang="en-US" sz="36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1" name="Shape 8"/>
          <p:cNvSpPr/>
          <p:nvPr/>
        </p:nvSpPr>
        <p:spPr>
          <a:xfrm>
            <a:off x="8241000" y="1700000"/>
            <a:ext cx="3250000" cy="32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12" name="h"/>
          <p:cNvSpPr/>
          <p:nvPr/>
        </p:nvSpPr>
        <p:spPr>
          <a:xfrm>
            <a:off x="8361000" y="1900000"/>
            <a:ext cx="30100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xv6 Kernel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3" name="s"/>
          <p:cNvSpPr/>
          <p:nvPr/>
        </p:nvSpPr>
        <p:spPr>
          <a:xfrm>
            <a:off x="8361000" y="2420000"/>
            <a:ext cx="301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xv6-riscv · QEMU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14" name="b"/>
          <p:cNvSpPr/>
          <p:nvPr/>
        </p:nvSpPr>
        <p:spPr>
          <a:xfrm>
            <a:off x="8501000" y="2900000"/>
            <a:ext cx="2730000" cy="19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 b="1">
                <a:solidFill>
                  <a:srgbClr val="226df6"/>
                </a:solidFill>
                <a:latin typeface="Arial"/>
                <a:cs typeface="Arial"/>
              </a:rPr>
              <a:t>PSI in kalloc.c</a:t>
            </a:r>
            <a:endParaRPr lang="en-US" sz="135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sleep / wakeup on alloc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EMA every timer tick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350">
                <a:solidFill>
                  <a:srgbClr val="292621"/>
                </a:solidFill>
                <a:latin typeface="Arial"/>
                <a:cs typeface="Arial"/>
              </a:rPr>
              <a:t>4 new syscalls</a:t>
            </a:r>
            <a:endParaRPr lang="en-US" sz="13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700"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some_avg10  0% -&gt; 9%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15" name="bottom"/>
          <p:cNvSpPr/>
          <p:nvPr/>
        </p:nvSpPr>
        <p:spPr>
          <a:xfrm>
            <a:off x="640000" y="532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292621"/>
                </a:solidFill>
                <a:latin typeface="Arial"/>
                <a:cs typeface="Arial"/>
              </a:rPr>
              <a:t>OS mechanisms in action:  </a:t>
            </a:r>
            <a:r>
              <a:rPr lang="en-US" sz="1700" b="1">
                <a:solidFill>
                  <a:srgbClr val="226df6"/>
                </a:solidFill>
                <a:latin typeface="Arial"/>
                <a:cs typeface="Arial"/>
              </a:rPr>
              <a:t>fork · exec · pipe · signals · /proc · PSI · waitpid</a:t>
            </a:r>
            <a:endParaRPr lang="en-US" sz="17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OS Concepts in Action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Where each operating-system concept from the course actually lives in our system.</a:t>
            </a:r>
            <a:endParaRPr lang="en-US" sz="1800"/>
          </a:p>
        </p:txBody>
      </p:sp>
      <p:graphicFrame>
        <p:nvGraphicFramePr>
          <p:cNvPr id="980" name="OSConcepts Table"/>
          <p:cNvGraphicFramePr/>
          <p:nvPr/>
        </p:nvGraphicFramePr>
        <p:xfrm>
          <a:off x="596000" y="1462200"/>
          <a:ext cx="11000000" cy="4710000"/>
        </p:xfrm>
        <a:graphic>
          <a:graphicData uri="http://schemas.openxmlformats.org/drawingml/2006/table">
            <a:tbl>
              <a:tblPr firstRow="1"/>
              <a:tblGrid>
                <a:gridCol w="2750000"/>
                <a:gridCol w="4850000"/>
                <a:gridCol w="3400000"/>
              </a:tblGrid>
              <a:tr h="48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OS Concept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Where it is used in our system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Mechanism / call</a:t>
                      </a:r>
                      <a:endParaRPr lang="en-US" sz="1200" b="1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Process creation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C daemon spawns the Python LLM helper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fork() + execlp()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IPC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bidirectional C &lt;-&gt; Python, JSON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pipe() + dup2()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Signals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terminate the chosen victim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kill(): SIGTERM -&gt; SIGKILL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Process lifecycle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reap the helper child (no zombies)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waitpid(WNOHANG)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Memory pressure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detect low-memory condition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/proc/pressure/memory (PSI)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/proc filesystem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collect candidate processes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readdir + /proc/[pid]/status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Virtual memory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track stalls on page alloc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kalloc / kfree + sleep/wakeup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Synchronization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avoid recursive lock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release lock before kalloc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470000"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System calls</a:t>
                      </a:r>
                      <a:endParaRPr lang="en-US" sz="1150" b="1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>
                          <a:solidFill>
                            <a:srgbClr val="292621"/>
                          </a:solidFill>
                          <a:latin typeface="Arial"/>
                          <a:cs typeface="Arial"/>
                        </a:rPr>
                        <a:t>xv6: expose stats to userspace</a:t>
                      </a:r>
                      <a:endParaRPr lang="en-US" sz="1150">
                        <a:solidFill>
                          <a:srgbClr val="292621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80000" tIns="30000" rIns="80000" bIns="30000" anchor="ctr" anchorCtr="0"/>
                    <a:p>
                      <a:pPr algn="l">
                        <a:defRPr/>
                      </a:pPr>
                      <a:r>
                        <a:rPr lang="en-US" sz="1150" b="1">
                          <a:solidFill>
                            <a:srgbClr val="2f7d5b"/>
                          </a:solidFill>
                          <a:latin typeface="Arial"/>
                          <a:cs typeface="Arial"/>
                        </a:rPr>
                        <a:t>4 new syscalls</a:t>
                      </a:r>
                      <a:endParaRPr lang="en-US" sz="1150" b="1">
                        <a:solidFill>
                          <a:srgbClr val="2f7d5b"/>
                        </a:solidFill>
                        <a:latin typeface="Arial"/>
                        <a:cs typeface="Arial"/>
                      </a:endParaRPr>
                    </a:p>
                  </a:txBody>
                  <a:tcPr marL="80000" marR="80000" marT="30000" marB="30000" anchor="ctr">
                    <a:lnL w="12700" cap="flat">
                      <a:solidFill>
                        <a:srgbClr val="d0d7de"/>
                      </a:solidFill>
                      <a:prstDash val="solid"/>
                    </a:lnL>
                    <a:lnR w="12700" cap="flat">
                      <a:solidFill>
                        <a:srgbClr val="d0d7de"/>
                      </a:solidFill>
                      <a:prstDash val="solid"/>
                    </a:lnR>
                    <a:lnT w="12700" cap="flat">
                      <a:solidFill>
                        <a:srgbClr val="d0d7de"/>
                      </a:solidFill>
                      <a:prstDash val="solid"/>
                    </a:lnT>
                    <a:lnB w="12700" cap="flat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</a:tbl>
          </a:graphicData>
        </a:graphic>
      </p:graphicFrame>
      <p:sp>
        <p:nvSpPr>
          <p:cNvPr id="981" name="osbottom"/>
          <p:cNvSpPr/>
          <p:nvPr/>
        </p:nvSpPr>
        <p:spPr>
          <a:xfrm>
            <a:off x="640000" y="6280000"/>
            <a:ext cx="10912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defRPr/>
            </a:pPr>
            <a:r>
              <a:rPr lang="en-US" sz="1400" b="1">
                <a:solidFill>
                  <a:srgbClr val="292621"/>
                </a:solidFill>
                <a:latin typeface="Arial"/>
              </a:rPr>
              <a:t>The LLM is one HTTPS call. Everything around it is real OS code.</a:t>
            </a:r>
            <a:endParaRPr lang="en-US" sz="1400" b="1">
              <a:solidFill>
                <a:srgbClr val="292621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Demo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One Scenario, End to End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2" name="그룹 1"/>
          <p:cNvGrpSpPr/>
          <p:nvPr/>
        </p:nvGrpSpPr>
        <p:grpSpPr>
          <a:xfrm rot="0">
            <a:off x="525087" y="1320908"/>
            <a:ext cx="494258" cy="532658"/>
            <a:chOff x="6290588" y="2385799"/>
            <a:chExt cx="640080" cy="640080"/>
          </a:xfrm>
        </p:grpSpPr>
        <p:sp>
          <p:nvSpPr>
            <p:cNvPr id="4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TextBox 3"/>
            <p:cNvSpPr txBox="1"/>
            <p:nvPr/>
          </p:nvSpPr>
          <p:spPr>
            <a:xfrm>
              <a:off x="6324878" y="2584449"/>
              <a:ext cx="571500" cy="234782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1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" name="TextBox 4"/>
          <p:cNvSpPr txBox="1"/>
          <p:nvPr/>
        </p:nvSpPr>
        <p:spPr>
          <a:xfrm>
            <a:off x="1286399" y="1486219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User policy</a:t>
            </a:r>
            <a:endParaRPr xmlns:mc="http://schemas.openxmlformats.org/markup-compatibility/2006" xmlns:hp="http://schemas.haansoft.com/office/presentation/8.0" lang="en-US" sz="2000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86399" y="1798728"/>
            <a:ext cx="4294366" cy="7315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i="1">
                <a:latin typeface="Arial"/>
                <a:ea typeface="Arial"/>
                <a:cs typeface="Arial"/>
              </a:rPr>
              <a:t>"I am coding. Never kill VS Code or firefox. Chrome is fine to kill."</a:t>
            </a:r>
            <a:endParaRPr lang="en-US" sz="1400"/>
          </a:p>
        </p:txBody>
      </p:sp>
      <p:grpSp>
        <p:nvGrpSpPr>
          <p:cNvPr id="13" name="그룹 12"/>
          <p:cNvGrpSpPr/>
          <p:nvPr/>
        </p:nvGrpSpPr>
        <p:grpSpPr>
          <a:xfrm rot="0">
            <a:off x="551565" y="2672327"/>
            <a:ext cx="494258" cy="532658"/>
            <a:chOff x="6290588" y="2385799"/>
            <a:chExt cx="640080" cy="640080"/>
          </a:xfrm>
        </p:grpSpPr>
        <p:sp>
          <p:nvSpPr>
            <p:cNvPr id="14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15" name="TextBox 3"/>
            <p:cNvSpPr txBox="1"/>
            <p:nvPr/>
          </p:nvSpPr>
          <p:spPr>
            <a:xfrm>
              <a:off x="6324878" y="2563148"/>
              <a:ext cx="571500" cy="277384"/>
            </a:xfrm>
            <a:prstGeom prst="rect">
              <a:avLst/>
            </a:prstGeom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2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6" name="TextBox 4"/>
          <p:cNvSpPr txBox="1"/>
          <p:nvPr/>
        </p:nvSpPr>
        <p:spPr>
          <a:xfrm>
            <a:off x="1312877" y="2837638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Real candidates </a:t>
            </a:r>
            <a:r>
              <a:rPr xmlns:mc="http://schemas.openxmlformats.org/markup-compatibility/2006" xmlns:hp="http://schemas.haansoft.com/office/presentation/8.0" lang="en-US" sz="2000" b="1" mc:Ignorable="hp" hp:hslEmbossed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(from/proc)</a:t>
            </a:r>
            <a:endParaRPr xmlns:mc="http://schemas.openxmlformats.org/markup-compatibility/2006" xmlns:hp="http://schemas.haansoft.com/office/presentation/8.0" lang="en-US" sz="2000" b="1" mc:Ignorable="hp" hp:hslEmbossed="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46" name="그룹 45"/>
          <p:cNvGrpSpPr/>
          <p:nvPr/>
        </p:nvGrpSpPr>
        <p:grpSpPr>
          <a:xfrm rot="0">
            <a:off x="578043" y="3342497"/>
            <a:ext cx="5029200" cy="1371600"/>
            <a:chOff x="328977" y="4234035"/>
            <a:chExt cx="5029200" cy="1371600"/>
          </a:xfrm>
        </p:grpSpPr>
        <p:sp>
          <p:nvSpPr>
            <p:cNvPr id="21" name="Shape 9"/>
            <p:cNvSpPr/>
            <p:nvPr/>
          </p:nvSpPr>
          <p:spPr>
            <a:xfrm>
              <a:off x="328977" y="4234035"/>
              <a:ext cx="5029200" cy="1371600"/>
            </a:xfrm>
            <a:prstGeom prst="roundRect">
              <a:avLst>
                <a:gd name="adj" fmla="val 9333"/>
              </a:avLst>
            </a:prstGeom>
            <a:solidFill>
              <a:srgbClr val="f6f3ea"/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44" name="Text 10"/>
            <p:cNvSpPr/>
            <p:nvPr/>
          </p:nvSpPr>
          <p:spPr>
            <a:xfrm>
              <a:off x="551565" y="4302652"/>
              <a:ext cx="4572000" cy="1234440"/>
            </a:xfrm>
            <a:prstGeom prst="rect">
              <a:avLst/>
            </a:prstGeom>
            <a:noFill/>
            <a:ln/>
          </p:spPr>
          <p:txBody>
            <a:bodyPr wrap="square" lIns="0" tIns="0" rIns="0" bIns="0" anchor="ctr"/>
            <a:lstStyle/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 b="1">
                  <a:solidFill>
                    <a:srgbClr val="c0392b"/>
                  </a:solidFill>
                  <a:latin typeface="Consolas"/>
                  <a:ea typeface="Consolas"/>
                  <a:cs typeface="Consolas"/>
                </a:rPr>
                <a:t>chrome    1200 MB</a:t>
              </a:r>
              <a:endParaRPr lang="en-US" sz="1300" b="1">
                <a:solidFill>
                  <a:srgbClr val="c0392b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firefox    800 MB   (protected)</a:t>
              </a:r>
              <a:endParaRPr lang="en-US" sz="1300">
                <a:solidFill>
                  <a:srgbClr val="292621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code       600 MB   (protected)</a:t>
              </a:r>
              <a:endParaRPr lang="en-US" sz="1300">
                <a:solidFill>
                  <a:srgbClr val="292621"/>
                </a:solidFill>
                <a:latin typeface="Consolas"/>
                <a:ea typeface="Consolas"/>
                <a:cs typeface="Consolas"/>
              </a:endParaRPr>
            </a:p>
            <a:p>
              <a:pPr marL="0" indent="0">
                <a:spcAft>
                  <a:spcPts val="400"/>
                </a:spcAft>
                <a:buNone/>
                <a:defRPr/>
              </a:pPr>
              <a:r>
                <a:rPr lang="en-US" sz="1300">
                  <a:solidFill>
                    <a:srgbClr val="292621"/>
                  </a:solidFill>
                  <a:latin typeface="Consolas"/>
                  <a:ea typeface="Consolas"/>
                  <a:cs typeface="Consolas"/>
                </a:rPr>
                <a:t>systemd     12 MB   (system)</a:t>
              </a:r>
              <a:endParaRPr lang="en-US" sz="1300"/>
            </a:p>
          </p:txBody>
        </p:sp>
      </p:grpSp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22059" y="1992470"/>
            <a:ext cx="400106" cy="352474"/>
          </a:xfrm>
          <a:prstGeom prst="rect">
            <a:avLst/>
          </a:prstGeom>
        </p:spPr>
      </p:pic>
      <p:sp>
        <p:nvSpPr>
          <p:cNvPr id="52" name="Shape 14"/>
          <p:cNvSpPr/>
          <p:nvPr/>
        </p:nvSpPr>
        <p:spPr>
          <a:xfrm>
            <a:off x="572031" y="5639279"/>
            <a:ext cx="5029200" cy="640080"/>
          </a:xfrm>
          <a:prstGeom prst="roundRect">
            <a:avLst>
              <a:gd name="adj" fmla="val 20000"/>
            </a:avLst>
          </a:prstGeom>
          <a:solidFill>
            <a:srgbClr val="eaf7f0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3" name="Text 15"/>
          <p:cNvSpPr/>
          <p:nvPr/>
        </p:nvSpPr>
        <p:spPr>
          <a:xfrm>
            <a:off x="773623" y="5650631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6a34a"/>
                </a:solidFill>
                <a:latin typeface="Consolas"/>
                <a:ea typeface="Consolas"/>
                <a:cs typeface="Consolas"/>
              </a:rPr>
              <a:t>-&gt; kill chrome   </a:t>
            </a:r>
            <a:r>
              <a:rPr lang="en-US" sz="1400">
                <a:solidFill>
                  <a:srgbClr val="6b6862"/>
                </a:solidFill>
                <a:latin typeface="Consolas"/>
                <a:ea typeface="Consolas"/>
                <a:cs typeface="Consolas"/>
              </a:rPr>
              <a:t>VALIDATOR PASS</a:t>
            </a:r>
            <a:endParaRPr lang="en-US" sz="1400"/>
          </a:p>
        </p:txBody>
      </p:sp>
      <p:grpSp>
        <p:nvGrpSpPr>
          <p:cNvPr id="54" name="그룹 53"/>
          <p:cNvGrpSpPr/>
          <p:nvPr/>
        </p:nvGrpSpPr>
        <p:grpSpPr>
          <a:xfrm rot="0">
            <a:off x="551565" y="4890018"/>
            <a:ext cx="494258" cy="532658"/>
            <a:chOff x="6290588" y="2385799"/>
            <a:chExt cx="640080" cy="640080"/>
          </a:xfrm>
          <a:solidFill>
            <a:srgbClr val="93e9ae"/>
          </a:solidFill>
        </p:grpSpPr>
        <p:sp>
          <p:nvSpPr>
            <p:cNvPr id="55" name="Shape 2"/>
            <p:cNvSpPr/>
            <p:nvPr/>
          </p:nvSpPr>
          <p:spPr>
            <a:xfrm>
              <a:off x="6290588" y="2385799"/>
              <a:ext cx="640080" cy="64008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6" name="TextBox 3"/>
            <p:cNvSpPr txBox="1"/>
            <p:nvPr/>
          </p:nvSpPr>
          <p:spPr>
            <a:xfrm>
              <a:off x="6324878" y="2563148"/>
              <a:ext cx="571500" cy="277384"/>
            </a:xfrm>
            <a:prstGeom prst="rect">
              <a:avLst/>
            </a:prstGeom>
            <a:grpFill/>
            <a:ln/>
          </p:spPr>
          <p:txBody>
            <a:bodyPr vert="horz" wrap="square" lIns="0" tIns="0" rIns="0" bIns="0" anchor="ctr" anchorCtr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r>
                <a:rPr lang="en-US" sz="1500" b="1">
                  <a:solidFill>
                    <a:schemeClr val="dk2">
                      <a:alpha val="100000"/>
                    </a:schemeClr>
                  </a:solidFill>
                  <a:latin typeface="Arial"/>
                  <a:ea typeface="Arial"/>
                  <a:cs typeface="Arial"/>
                </a:rPr>
                <a:t>3</a:t>
              </a:r>
              <a:endParaRPr lang="en-US" sz="1500" b="1">
                <a:solidFill>
                  <a:schemeClr val="dk2">
                    <a:alpha val="100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57" name="TextBox 4"/>
          <p:cNvSpPr txBox="1"/>
          <p:nvPr/>
        </p:nvSpPr>
        <p:spPr>
          <a:xfrm>
            <a:off x="1286399" y="5055845"/>
            <a:ext cx="3291387" cy="494786"/>
          </a:xfrm>
          <a:prstGeom prst="rect">
            <a:avLst/>
          </a:prstGeom>
          <a:ln/>
        </p:spPr>
        <p:txBody>
          <a:bodyPr vert="horz" wrap="square" lIns="0" tIns="0" rIns="0" bIns="0" anchor="t" anchorCtr="0"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xmlns:mc="http://schemas.openxmlformats.org/markup-compatibility/2006" xmlns:hp="http://schemas.haansoft.com/office/presentation/8.0" lang="en-US" sz="2000" b="1" mc:Ignorable="hp" hp:hslEmbossed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AI </a:t>
            </a:r>
            <a:r>
              <a:rPr xmlns:mc="http://schemas.openxmlformats.org/markup-compatibility/2006" xmlns:hp="http://schemas.haansoft.com/office/presentation/8.0" lang="en-US" sz="2000" mc:Ignorable="hp" hp:hslEmbossed="0">
                <a:ln w="0"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/>
                <a:ea typeface="Arial"/>
                <a:cs typeface="Arial"/>
              </a:rPr>
              <a:t>decision</a:t>
            </a:r>
            <a:endParaRPr xmlns:mc="http://schemas.openxmlformats.org/markup-compatibility/2006" xmlns:hp="http://schemas.haansoft.com/office/presentation/8.0" lang="en-US" sz="2000" mc:Ignorable="hp" hp:hslEmbossed="0">
              <a:solidFill>
                <a:srgbClr val="00b05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화살표: 오른쪽 57"/>
          <p:cNvSpPr/>
          <p:nvPr/>
        </p:nvSpPr>
        <p:spPr>
          <a:xfrm>
            <a:off x="5923810" y="2769928"/>
            <a:ext cx="686027" cy="125836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ee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9" name="Shape 16"/>
          <p:cNvSpPr/>
          <p:nvPr/>
        </p:nvSpPr>
        <p:spPr>
          <a:xfrm>
            <a:off x="7148369" y="1486219"/>
            <a:ext cx="4667763" cy="4793140"/>
          </a:xfrm>
          <a:prstGeom prst="roundRect">
            <a:avLst>
              <a:gd name="adj" fmla="val 2692"/>
            </a:avLst>
          </a:prstGeom>
          <a:solidFill>
            <a:srgbClr val="f3efe4"/>
          </a:solidFill>
          <a:ln w="19050">
            <a:solidFill>
              <a:srgbClr val="8e1a26"/>
            </a:solidFill>
            <a:prstDash val="dash"/>
          </a:ln>
        </p:spPr>
        <p:txBody>
          <a:bodyPr/>
          <a:lstStyle/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  <a:p>
            <a:pPr algn="ctr">
              <a:defRPr/>
            </a:pPr>
            <a:endParaRPr lang="en-US" altLang="ko-KR"/>
          </a:p>
        </p:txBody>
      </p:sp>
      <p:pic>
        <p:nvPicPr>
          <p:cNvPr id="900" name="Demo Screenshot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298369" y="2087062"/>
            <a:ext cx="4367763" cy="35914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anchor="ctr" anchorCtr="0">
            <a:no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Why “Conversational”?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644097" y="2590800"/>
            <a:ext cx="194103" cy="4267200"/>
            <a:chOff x="839115" y="1512589"/>
            <a:chExt cx="197186" cy="5357334"/>
          </a:xfrm>
        </p:grpSpPr>
        <p:sp>
          <p:nvSpPr>
            <p:cNvPr id="4" name="AutoShape 4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pPr lvl="0">
                <a:defRPr/>
              </a:pPr>
              <a:endParaRPr lang="ko-KR" altLang="en-US"/>
            </a:p>
          </p:txBody>
        </p:sp>
        <p:cxnSp>
          <p:nvCxnSpPr>
            <p:cNvPr id="7" name="Connector 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" name="Text 1"/>
          <p:cNvSpPr/>
          <p:nvPr/>
        </p:nvSpPr>
        <p:spPr>
          <a:xfrm>
            <a:off x="609373" y="96620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6b6862"/>
                </a:solidFill>
                <a:latin typeface="Arial"/>
                <a:ea typeface="Arial"/>
                <a:cs typeface="Arial"/>
              </a:rPr>
              <a:t>Same machine. Same processes. Same memory. Only the words change.</a:t>
            </a:r>
            <a:endParaRPr lang="en-US" sz="180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0757" y="2514504"/>
            <a:ext cx="400106" cy="3524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40863" y="2515789"/>
            <a:ext cx="226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“kill chrome”</a:t>
            </a: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4970" y="3902943"/>
            <a:ext cx="400106" cy="35247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35075" y="3886200"/>
            <a:ext cx="3746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“save chrome, kill spotify instead”</a:t>
            </a:r>
            <a:endParaRPr lang="ko-KR" altLang="en-US"/>
          </a:p>
        </p:txBody>
      </p:sp>
      <p:sp>
        <p:nvSpPr>
          <p:cNvPr id="21" name="화살표: 오른쪽 20"/>
          <p:cNvSpPr/>
          <p:nvPr/>
        </p:nvSpPr>
        <p:spPr>
          <a:xfrm>
            <a:off x="1432181" y="3198211"/>
            <a:ext cx="304793" cy="3693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Shape 7"/>
          <p:cNvSpPr/>
          <p:nvPr/>
        </p:nvSpPr>
        <p:spPr>
          <a:xfrm>
            <a:off x="1889381" y="3104649"/>
            <a:ext cx="2046026" cy="5438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rgbClr val="6b6862"/>
                </a:solidFill>
                <a:latin typeface="Arial"/>
                <a:ea typeface="Arial"/>
                <a:cs typeface="Arial"/>
              </a:rPr>
              <a:t>kills </a:t>
            </a: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chrome</a:t>
            </a:r>
            <a:endParaRPr lang="en-US" altLang="ko-KR"/>
          </a:p>
        </p:txBody>
      </p:sp>
      <p:sp>
        <p:nvSpPr>
          <p:cNvPr id="25" name="화살표: 오른쪽 24"/>
          <p:cNvSpPr/>
          <p:nvPr/>
        </p:nvSpPr>
        <p:spPr>
          <a:xfrm>
            <a:off x="1432181" y="4586766"/>
            <a:ext cx="304793" cy="3693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Shape 7"/>
          <p:cNvSpPr/>
          <p:nvPr/>
        </p:nvSpPr>
        <p:spPr>
          <a:xfrm>
            <a:off x="1889381" y="4493204"/>
            <a:ext cx="2046026" cy="5438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altLang="ko-KR">
                <a:solidFill>
                  <a:srgbClr val="6b6862"/>
                </a:solidFill>
                <a:latin typeface="Arial"/>
                <a:ea typeface="Arial"/>
                <a:cs typeface="Arial"/>
              </a:rPr>
              <a:t>kills </a:t>
            </a:r>
            <a:r>
              <a:rPr lang="en-US" altLang="ko-KR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spotify</a:t>
            </a:r>
            <a:endParaRPr lang="en-US" altLang="ko-KR"/>
          </a:p>
        </p:txBody>
      </p:sp>
      <p:sp>
        <p:nvSpPr>
          <p:cNvPr id="27" name="Shape 2"/>
          <p:cNvSpPr/>
          <p:nvPr/>
        </p:nvSpPr>
        <p:spPr>
          <a:xfrm>
            <a:off x="655093" y="1506079"/>
            <a:ext cx="10927080" cy="673026"/>
          </a:xfrm>
          <a:prstGeom prst="roundRect">
            <a:avLst>
              <a:gd name="adj" fmla="val 21053"/>
            </a:avLst>
          </a:prstGeom>
          <a:solidFill>
            <a:schemeClr val="accent5">
              <a:lumMod val="40000"/>
              <a:lumOff val="6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1" algn="ctr">
              <a:lnSpc>
                <a:spcPct val="150000"/>
              </a:lnSpc>
              <a:defRPr/>
            </a:pPr>
            <a:r>
              <a:rPr lang="en-US" altLang="ko-KR" b="1">
                <a:solidFill>
                  <a:srgbClr val="57111c"/>
                </a:solidFill>
                <a:latin typeface="Consolas"/>
                <a:ea typeface="Consolas"/>
                <a:cs typeface="Consolas"/>
              </a:rPr>
              <a:t>Candidates:  </a:t>
            </a:r>
            <a:r>
              <a:rPr lang="en-US" altLang="ko-KR">
                <a:solidFill>
                  <a:srgbClr val="292621"/>
                </a:solidFill>
                <a:latin typeface="Consolas"/>
                <a:ea typeface="Consolas"/>
                <a:cs typeface="Consolas"/>
              </a:rPr>
              <a:t>chrome (1.2 GB)   ·   spotify (400 MB)   ·   code (600 MB)</a:t>
            </a:r>
            <a:endParaRPr lang="en-US" altLang="ko-KR"/>
          </a:p>
        </p:txBody>
      </p:sp>
      <p:sp>
        <p:nvSpPr>
          <p:cNvPr id="31" name="TextBox 30"/>
          <p:cNvSpPr txBox="1"/>
          <p:nvPr/>
        </p:nvSpPr>
        <p:spPr>
          <a:xfrm>
            <a:off x="1584577" y="5601817"/>
            <a:ext cx="8854823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The decision flipped – because the OS listened to you.</a:t>
            </a:r>
            <a:endParaRPr lang="en-US" altLang="ko-KR"/>
          </a:p>
          <a:p>
            <a:pPr lvl="0">
              <a:defRPr/>
            </a:pPr>
            <a:r>
              <a:rPr lang="en-US" altLang="ko-KR" sz="2500" b="1"/>
              <a:t>That is </a:t>
            </a:r>
            <a:r>
              <a:rPr lang="en-US" altLang="ko-KR" sz="2500" b="1">
                <a:solidFill>
                  <a:schemeClr val="accent3">
                    <a:lumMod val="50000"/>
                  </a:schemeClr>
                </a:solidFill>
              </a:rPr>
              <a:t>Conversational</a:t>
            </a:r>
            <a:endParaRPr lang="ko-KR" altLang="en-US" sz="2500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91200" y="3029721"/>
            <a:ext cx="5252344" cy="2082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Evaluation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76023" y="1691640"/>
          <a:ext cx="7680960" cy="4270588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640080"/>
                <a:gridCol w="3749040"/>
                <a:gridCol w="2286000"/>
                <a:gridCol w="1005840"/>
              </a:tblGrid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Policy (key idea)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AI Selection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OK</a:t>
                      </a:r>
                      <a:endParaRPr lang="en-US" sz="150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226df6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1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firefox / code; chrome OK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2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music &lt; browser &lt; editor priority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spotify + 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3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abstract 'system processes'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 (sys avoided)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4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Protect everything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(refused)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5a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'Kill chrome'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chrome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eff4fe"/>
                    </a:solidFill>
                  </a:tcPr>
                </a:tc>
              </a:tr>
              <a:tr h="610084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5b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'Save chrome, kill spotify'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l">
                        <a:buNone/>
                        <a:defRPr/>
                      </a:pPr>
                      <a:r>
                        <a:rPr lang="en-US" sz="1500">
                          <a:solidFill>
                            <a:srgbClr val="292621"/>
                          </a:solidFill>
                        </a:rPr>
                        <a:t>spotify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5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rgbClr val="d0d7de"/>
                      </a:solidFill>
                      <a:prstDash val="soli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/>
        </p:nvSpPr>
        <p:spPr>
          <a:xfrm>
            <a:off x="625033" y="98794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6b6862"/>
                </a:solidFill>
                <a:latin typeface="Arial"/>
                <a:ea typeface="Arial"/>
                <a:cs typeface="Arial"/>
              </a:rPr>
              <a:t>5 scenarios · 6 decisions · isolated LLM helper invocation</a:t>
            </a:r>
            <a:endParaRPr lang="en-US" sz="1500"/>
          </a:p>
        </p:txBody>
      </p:sp>
      <p:sp>
        <p:nvSpPr>
          <p:cNvPr id="11" name="Shape 2"/>
          <p:cNvSpPr/>
          <p:nvPr/>
        </p:nvSpPr>
        <p:spPr>
          <a:xfrm>
            <a:off x="8679084" y="1598078"/>
            <a:ext cx="2834640" cy="1554480"/>
          </a:xfrm>
          <a:prstGeom prst="roundRect">
            <a:avLst>
              <a:gd name="adj" fmla="val 9412"/>
            </a:avLst>
          </a:prstGeom>
          <a:solidFill>
            <a:srgbClr val="fafcdc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2" name="Text 3"/>
          <p:cNvSpPr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6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100%</a:t>
            </a:r>
            <a:endParaRPr lang="en-US" sz="4600"/>
          </a:p>
        </p:txBody>
      </p:sp>
      <p:sp>
        <p:nvSpPr>
          <p:cNvPr id="17" name="Text 4"/>
          <p:cNvSpPr/>
          <p:nvPr/>
        </p:nvSpPr>
        <p:spPr>
          <a:xfrm>
            <a:off x="86868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57111c"/>
                </a:solidFill>
                <a:latin typeface="Arial"/>
                <a:ea typeface="Arial"/>
                <a:cs typeface="Arial"/>
              </a:rPr>
              <a:t>policy compliance</a:t>
            </a:r>
            <a:endParaRPr lang="en-US" sz="1400"/>
          </a:p>
        </p:txBody>
      </p:sp>
      <p:sp>
        <p:nvSpPr>
          <p:cNvPr id="19" name="Text 3"/>
          <p:cNvSpPr/>
          <p:nvPr/>
        </p:nvSpPr>
        <p:spPr>
          <a:xfrm>
            <a:off x="8686800" y="16916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600" b="1">
                <a:latin typeface="Arial"/>
                <a:ea typeface="Arial"/>
                <a:cs typeface="Arial"/>
              </a:rPr>
              <a:t>100%</a:t>
            </a:r>
            <a:endParaRPr lang="en-US" sz="4600"/>
          </a:p>
        </p:txBody>
      </p:sp>
      <p:sp>
        <p:nvSpPr>
          <p:cNvPr id="20" name="Text 4"/>
          <p:cNvSpPr/>
          <p:nvPr/>
        </p:nvSpPr>
        <p:spPr>
          <a:xfrm>
            <a:off x="86868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>
                <a:latin typeface="Arial"/>
                <a:ea typeface="Arial"/>
                <a:cs typeface="Arial"/>
              </a:rPr>
              <a:t>policy compliance</a:t>
            </a:r>
            <a:endParaRPr lang="en-US" sz="1400"/>
          </a:p>
        </p:txBody>
      </p:sp>
      <p:sp>
        <p:nvSpPr>
          <p:cNvPr id="22" name="Shape 5"/>
          <p:cNvSpPr/>
          <p:nvPr/>
        </p:nvSpPr>
        <p:spPr>
          <a:xfrm>
            <a:off x="8656320" y="3493346"/>
            <a:ext cx="91440" cy="2468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3" name="Text 6"/>
          <p:cNvSpPr/>
          <p:nvPr/>
        </p:nvSpPr>
        <p:spPr>
          <a:xfrm>
            <a:off x="8884920" y="3539066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500" b="1">
                <a:solidFill>
                  <a:schemeClr val="accen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Scenario 4</a:t>
            </a:r>
            <a:endParaRPr lang="en-US" sz="1500" b="1">
              <a:solidFill>
                <a:schemeClr val="accent1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Refused to kill when policy conflicts with the memory goal </a:t>
            </a:r>
            <a:r>
              <a:rPr lang="en-US" altLang="ko-KR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 safety first.</a:t>
            </a: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>
              <a:spcAft>
                <a:spcPts val="400"/>
              </a:spcAft>
              <a:buNone/>
              <a:defRPr/>
            </a:pPr>
            <a:endParaRPr lang="en-US" sz="15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500" b="1">
                <a:solidFill>
                  <a:schemeClr val="tx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Scenario 5</a:t>
            </a:r>
            <a:endParaRPr lang="en-US" sz="1500" b="1">
              <a:solidFill>
                <a:schemeClr val="tx2">
                  <a:lumMod val="5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Same state, changed policy </a:t>
            </a:r>
            <a:r>
              <a:rPr lang="en-US" sz="13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300">
                <a:solidFill>
                  <a:srgbClr val="292621"/>
                </a:solidFill>
                <a:latin typeface="Arial"/>
                <a:ea typeface="Arial"/>
                <a:cs typeface="Arial"/>
              </a:rPr>
              <a:t> opposite decision. That is conversational.</a:t>
            </a:r>
            <a:endParaRPr lang="en-US" sz="13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xv6 Kernel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PSI Inside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We modified the kernel itself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not a layer on top.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2" name="Shape 8"/>
          <p:cNvSpPr/>
          <p:nvPr/>
        </p:nvSpPr>
        <p:spPr>
          <a:xfrm>
            <a:off x="691740" y="1640000"/>
            <a:ext cx="5257800" cy="345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33" name="Shape 8"/>
          <p:cNvSpPr/>
          <p:nvPr/>
        </p:nvSpPr>
        <p:spPr>
          <a:xfrm>
            <a:off x="6265144" y="1640000"/>
            <a:ext cx="5257800" cy="345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334" name="lh"/>
          <p:cNvSpPr/>
          <p:nvPr/>
        </p:nvSpPr>
        <p:spPr>
          <a:xfrm>
            <a:off x="991740" y="1860000"/>
            <a:ext cx="46578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226df6"/>
                </a:solidFill>
                <a:latin typeface="Arial"/>
                <a:cs typeface="Arial"/>
              </a:rPr>
              <a:t>Kernel changes</a:t>
            </a:r>
            <a:endParaRPr lang="en-US" sz="22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35" name="ls"/>
          <p:cNvSpPr/>
          <p:nvPr/>
        </p:nvSpPr>
        <p:spPr>
          <a:xfrm>
            <a:off x="991740" y="2340000"/>
            <a:ext cx="46578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Real edits to xv6-riscv source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36" name="lb"/>
          <p:cNvSpPr/>
          <p:nvPr/>
        </p:nvSpPr>
        <p:spPr>
          <a:xfrm>
            <a:off x="1111740" y="2840000"/>
            <a:ext cx="4517800" cy="2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kalloc.c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sleep when a page alloc fails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record mem_stall_ticks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kfree.c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wakeup waiters on free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226df6"/>
                </a:solidFill>
                <a:latin typeface="Arial"/>
                <a:cs typeface="Arial"/>
              </a:rPr>
              <a:t>trap.c</a:t>
            </a:r>
            <a:endParaRPr lang="en-US" sz="1500" b="1">
              <a:solidFill>
                <a:srgbClr val="226df6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timer tick </a:t>
            </a: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update_psi() (EMA)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600"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PSI computed entirely in-kernel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37" name="rh"/>
          <p:cNvSpPr/>
          <p:nvPr/>
        </p:nvSpPr>
        <p:spPr>
          <a:xfrm>
            <a:off x="6565144" y="1860000"/>
            <a:ext cx="4657800" cy="4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2200" b="1">
                <a:solidFill>
                  <a:srgbClr val="c0392b"/>
                </a:solidFill>
                <a:latin typeface="Arial"/>
                <a:cs typeface="Arial"/>
              </a:rPr>
              <a:t>Kernel API + result</a:t>
            </a:r>
            <a:endParaRPr lang="en-US" sz="22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38" name="rs"/>
          <p:cNvSpPr/>
          <p:nvPr/>
        </p:nvSpPr>
        <p:spPr>
          <a:xfrm>
            <a:off x="6565144" y="2340000"/>
            <a:ext cx="46578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6b6862"/>
                </a:solidFill>
                <a:latin typeface="Arial"/>
                <a:cs typeface="Arial"/>
              </a:rPr>
              <a:t>Exposed to userspace, measured in QEMU</a:t>
            </a:r>
            <a:endParaRPr lang="en-US" sz="140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339" name="rb"/>
          <p:cNvSpPr/>
          <p:nvPr/>
        </p:nvSpPr>
        <p:spPr>
          <a:xfrm>
            <a:off x="6685144" y="2840000"/>
            <a:ext cx="4517800" cy="21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c0392b"/>
                </a:solidFill>
                <a:latin typeface="Arial"/>
                <a:cs typeface="Arial"/>
              </a:rPr>
              <a:t>4 new syscalls:</a:t>
            </a:r>
            <a:endParaRPr lang="en-US" sz="150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sys_get_mem_pressure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sys_get_sys_stat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sys_get_proc_stats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sys_get_oom_candidates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500" b="1">
                <a:solidFill>
                  <a:srgbClr val="c0392b"/>
                </a:solidFill>
                <a:latin typeface="Arial"/>
                <a:cs typeface="Arial"/>
              </a:rPr>
              <a:t>Stress test (QEMU):</a:t>
            </a:r>
            <a:endParaRPr lang="en-US" sz="1500" b="1">
              <a:solidFill>
                <a:srgbClr val="c0392b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  some_avg10  0% </a:t>
            </a: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 9%, stable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endParaRPr lang="en-US" sz="600">
              <a:solidFill>
                <a:srgbClr val="ff0000"/>
              </a:solidFill>
              <a:latin typeface="Arial"/>
              <a:cs typeface="Arial"/>
            </a:endParaRPr>
          </a:p>
          <a:p>
            <a:pPr marL="0" indent="0">
              <a:buNone/>
              <a:defRPr/>
            </a:pPr>
            <a:r>
              <a:rPr lang="en-US" sz="1400" b="1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 real-time pressure visible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340" name="bottom"/>
          <p:cNvSpPr/>
          <p:nvPr/>
        </p:nvSpPr>
        <p:spPr>
          <a:xfrm>
            <a:off x="640000" y="535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292621"/>
                </a:solidFill>
                <a:latin typeface="Arial"/>
                <a:cs typeface="Arial"/>
              </a:rPr>
              <a:t>Lock safety:  </a:t>
            </a:r>
            <a:r>
              <a:rPr lang="en-US" sz="1600" b="1">
                <a:solidFill>
                  <a:srgbClr val="226df6"/>
                </a:solidFill>
                <a:latin typeface="Arial"/>
                <a:cs typeface="Arial"/>
              </a:rPr>
              <a:t>proc lock released before kalloc in allocproc / kfork </a:t>
            </a:r>
            <a:r>
              <a:rPr lang="en-US" altLang="ko-KR" sz="1600" b="1">
                <a:solidFill>
                  <a:srgbClr val="226df6"/>
                </a:solidFill>
                <a:latin typeface="Arial"/>
                <a:cs typeface="Arial"/>
              </a:rPr>
              <a:t>-</a:t>
            </a:r>
            <a:r>
              <a:rPr lang="en-US" sz="1600" b="1">
                <a:solidFill>
                  <a:srgbClr val="226df6"/>
                </a:solidFill>
                <a:latin typeface="Arial"/>
                <a:cs typeface="Arial"/>
              </a:rPr>
              <a:t> real kernel debugging.</a:t>
            </a:r>
            <a:endParaRPr lang="en-US" sz="16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77672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xv6 Live Monitor </a:t>
            </a:r>
            <a:r>
              <a:rPr lang="en-US" altLang="ko-KR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 OOM in action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Real services workload, real Solar Pro, real-time decision </a:t>
            </a:r>
            <a:r>
              <a:rPr lang="en-US" altLang="ko-KR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-</a:t>
            </a: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 captured live in the xv6 monitor.</a:t>
            </a:r>
            <a:endParaRPr lang="en-US" sz="1800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1" name="cap"/>
          <p:cNvSpPr/>
          <p:nvPr/>
        </p:nvSpPr>
        <p:spPr>
          <a:xfrm>
            <a:off x="640000" y="5840812"/>
            <a:ext cx="74000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6b6862"/>
                </a:solidFill>
                <a:latin typeface="Arial"/>
                <a:cs typeface="Arial"/>
              </a:rPr>
              <a:t>Live xv6 monitor — services running, AI killed three to free memory.</a:t>
            </a:r>
            <a:endParaRPr lang="en-US" sz="1050">
              <a:solidFill>
                <a:srgbClr val="6b6862"/>
              </a:solidFill>
              <a:latin typeface="Arial"/>
              <a:cs typeface="Arial"/>
            </a:endParaRPr>
          </a:p>
        </p:txBody>
      </p:sp>
      <p:sp>
        <p:nvSpPr>
          <p:cNvPr id="1102" name="bar"/>
          <p:cNvSpPr/>
          <p:nvPr/>
        </p:nvSpPr>
        <p:spPr>
          <a:xfrm>
            <a:off x="8240000" y="1620000"/>
            <a:ext cx="3312000" cy="4160812"/>
          </a:xfrm>
          <a:prstGeom prst="roundRect">
            <a:avLst>
              <a:gd name="adj" fmla="val 5000"/>
            </a:avLst>
          </a:prstGeom>
          <a:solidFill>
            <a:srgbClr val="f2f3f4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3" name="bar"/>
          <p:cNvSpPr/>
          <p:nvPr/>
        </p:nvSpPr>
        <p:spPr>
          <a:xfrm>
            <a:off x="8410000" y="1770000"/>
            <a:ext cx="55000" cy="85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4" name="lab"/>
          <p:cNvSpPr/>
          <p:nvPr/>
        </p:nvSpPr>
        <p:spPr>
          <a:xfrm>
            <a:off x="8540000" y="1740000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1   POLICY  (input)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05" name="body"/>
          <p:cNvSpPr/>
          <p:nvPr/>
        </p:nvSpPr>
        <p:spPr>
          <a:xfrm>
            <a:off x="8540000" y="2140000"/>
            <a:ext cx="2792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150" b="1">
                <a:solidFill>
                  <a:srgbClr val="292621"/>
                </a:solidFill>
                <a:latin typeface="Arial"/>
                <a:cs typeface="Arial"/>
              </a:rPr>
              <a:t>Fine to kill:  </a:t>
            </a: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memory-hungry services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(e.g. database, server, security)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 b="1">
                <a:solidFill>
                  <a:srgbClr val="292621"/>
                </a:solidFill>
                <a:latin typeface="Arial"/>
                <a:cs typeface="Arial"/>
              </a:rPr>
              <a:t>Keep alive:  </a:t>
            </a: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critical services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50">
                <a:solidFill>
                  <a:srgbClr val="292621"/>
                </a:solidFill>
                <a:latin typeface="Arial"/>
                <a:cs typeface="Arial"/>
              </a:rPr>
              <a:t>(cache, gateway, endpoint…)</a:t>
            </a:r>
            <a:endParaRPr lang="en-US" sz="115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106" name="bar"/>
          <p:cNvSpPr/>
          <p:nvPr/>
        </p:nvSpPr>
        <p:spPr>
          <a:xfrm>
            <a:off x="8410000" y="3156937"/>
            <a:ext cx="55000" cy="85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07" name="lab"/>
          <p:cNvSpPr/>
          <p:nvPr/>
        </p:nvSpPr>
        <p:spPr>
          <a:xfrm>
            <a:off x="8540000" y="3126937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2   AI DECISION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08" name="body"/>
          <p:cNvSpPr/>
          <p:nvPr/>
        </p:nvSpPr>
        <p:spPr>
          <a:xfrm>
            <a:off x="8540000" y="3526937"/>
            <a:ext cx="2792000" cy="4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92621"/>
                </a:solidFill>
                <a:latin typeface="Arial"/>
                <a:cs typeface="Arial"/>
              </a:rPr>
              <a:t>Killed:  </a:t>
            </a:r>
            <a:r>
              <a:rPr lang="en-US" sz="1200" b="1">
                <a:solidFill>
                  <a:srgbClr val="2f7d5b"/>
                </a:solidFill>
                <a:latin typeface="Arial"/>
                <a:cs typeface="Arial"/>
              </a:rPr>
              <a:t>database + server</a:t>
            </a:r>
            <a:endParaRPr lang="en-US" sz="1200" b="1">
              <a:solidFill>
                <a:srgbClr val="2f7d5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200" b="1">
                <a:solidFill>
                  <a:srgbClr val="2f7d5b"/>
                </a:solidFill>
                <a:latin typeface="Arial"/>
                <a:cs typeface="Arial"/>
              </a:rPr>
              <a:t>+ security</a:t>
            </a:r>
            <a:endParaRPr lang="en-US" sz="1200" b="1">
              <a:solidFill>
                <a:srgbClr val="2f7d5b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00" b="1">
                <a:solidFill>
                  <a:srgbClr val="292621"/>
                </a:solidFill>
                <a:latin typeface="Arial"/>
                <a:cs typeface="Arial"/>
              </a:rPr>
              <a:t>Protected:  </a:t>
            </a:r>
            <a:r>
              <a:rPr lang="en-US" sz="1100">
                <a:solidFill>
                  <a:srgbClr val="292621"/>
                </a:solidFill>
                <a:latin typeface="Arial"/>
                <a:cs typeface="Arial"/>
              </a:rPr>
              <a:t>cache · gateway · scheduler ·</a:t>
            </a:r>
            <a:endParaRPr lang="en-US" sz="11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100" b="1">
                <a:solidFill>
                  <a:srgbClr val="292621"/>
                </a:solidFill>
                <a:latin typeface="Arial"/>
                <a:cs typeface="Arial"/>
              </a:rPr>
              <a:t>Violations:  </a:t>
            </a:r>
            <a:r>
              <a:rPr lang="en-US" sz="1100" b="1">
                <a:solidFill>
                  <a:srgbClr val="2f7d5b"/>
                </a:solidFill>
                <a:latin typeface="Arial"/>
                <a:cs typeface="Arial"/>
              </a:rPr>
              <a:t>zero</a:t>
            </a:r>
            <a:endParaRPr lang="en-US" sz="1100" b="1">
              <a:solidFill>
                <a:srgbClr val="2f7d5b"/>
              </a:solidFill>
              <a:latin typeface="Arial"/>
              <a:cs typeface="Arial"/>
            </a:endParaRPr>
          </a:p>
        </p:txBody>
      </p:sp>
      <p:sp>
        <p:nvSpPr>
          <p:cNvPr id="1109" name="bar"/>
          <p:cNvSpPr/>
          <p:nvPr/>
        </p:nvSpPr>
        <p:spPr>
          <a:xfrm>
            <a:off x="8410000" y="4543874"/>
            <a:ext cx="55000" cy="900000"/>
          </a:xfrm>
          <a:prstGeom prst="rect">
            <a:avLst/>
          </a:prstGeom>
          <a:solidFill>
            <a:srgbClr val="9aa3ab"/>
          </a:solidFill>
          <a:ln/>
        </p:spPr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1110" name="lab3"/>
          <p:cNvSpPr/>
          <p:nvPr/>
        </p:nvSpPr>
        <p:spPr>
          <a:xfrm>
            <a:off x="8540000" y="4513874"/>
            <a:ext cx="2792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500" b="1">
                <a:solidFill>
                  <a:srgbClr val="384149"/>
                </a:solidFill>
                <a:latin typeface="Arial"/>
                <a:cs typeface="Arial"/>
              </a:rPr>
              <a:t>3   RESULT</a:t>
            </a:r>
            <a:endParaRPr lang="en-US" sz="1500" b="1">
              <a:solidFill>
                <a:srgbClr val="384149"/>
              </a:solidFill>
              <a:latin typeface="Arial"/>
              <a:cs typeface="Arial"/>
            </a:endParaRPr>
          </a:p>
        </p:txBody>
      </p:sp>
      <p:sp>
        <p:nvSpPr>
          <p:cNvPr id="1111" name="r_lab"/>
          <p:cNvSpPr/>
          <p:nvPr/>
        </p:nvSpPr>
        <p:spPr>
          <a:xfrm>
            <a:off x="8540000" y="4913874"/>
            <a:ext cx="2792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92621"/>
                </a:solidFill>
                <a:latin typeface="Arial"/>
                <a:cs typeface="Arial"/>
              </a:rPr>
              <a:t>Memory freed</a:t>
            </a:r>
            <a:endParaRPr lang="en-US" sz="1200" b="1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112" name="r_num"/>
          <p:cNvSpPr/>
          <p:nvPr/>
        </p:nvSpPr>
        <p:spPr>
          <a:xfrm>
            <a:off x="8540000" y="5213874"/>
            <a:ext cx="2792000" cy="6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b23a3a"/>
                </a:solidFill>
                <a:latin typeface="Arial"/>
                <a:cs typeface="Arial"/>
              </a:rPr>
              <a:t>~100 MB</a:t>
            </a:r>
            <a:r>
              <a:rPr lang="en-US" sz="1500" b="1">
                <a:solidFill>
                  <a:srgbClr val="292621"/>
                </a:solidFill>
                <a:latin typeface="Arial"/>
                <a:cs typeface="Arial"/>
              </a:rPr>
              <a:t> </a:t>
            </a:r>
            <a:r>
              <a:rPr lang="en-US" sz="15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·</a:t>
            </a:r>
            <a:r>
              <a:rPr lang="en-US" sz="1500" b="1">
                <a:solidFill>
                  <a:srgbClr val="292621"/>
                </a:solidFill>
                <a:latin typeface="Arial"/>
                <a:cs typeface="Arial"/>
              </a:rPr>
              <a:t> </a:t>
            </a:r>
            <a:r>
              <a:rPr lang="en-US" sz="1900" b="1">
                <a:solidFill>
                  <a:srgbClr val="2f7d5b"/>
                </a:solidFill>
                <a:latin typeface="Arial"/>
                <a:cs typeface="Arial"/>
              </a:rPr>
              <a:t>3 services killed</a:t>
            </a:r>
            <a:endParaRPr lang="en-US" sz="1900" b="1">
              <a:solidFill>
                <a:srgbClr val="2f7d5b"/>
              </a:solidFill>
              <a:latin typeface="Arial"/>
              <a:cs typeface="Arial"/>
            </a:endParaRPr>
          </a:p>
        </p:txBody>
      </p:sp>
      <p:sp>
        <p:nvSpPr>
          <p:cNvPr id="990" name="Tagline"/>
          <p:cNvSpPr/>
          <p:nvPr/>
        </p:nvSpPr>
        <p:spPr>
          <a:xfrm>
            <a:off x="640000" y="6320000"/>
            <a:ext cx="10912000" cy="3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6b6862"/>
                </a:solidFill>
                <a:latin typeface="Arial"/>
                <a:cs typeface="Arial"/>
              </a:rPr>
              <a:t>The same idea, proven in userspace AND inside the kernel.</a:t>
            </a:r>
            <a:endParaRPr lang="en-US" sz="1400" i="1">
              <a:solidFill>
                <a:srgbClr val="6b6862"/>
              </a:solidFill>
              <a:latin typeface="Arial"/>
              <a:cs typeface="Arial"/>
            </a:endParaRPr>
          </a:p>
        </p:txBody>
      </p:sp>
      <p:pic>
        <p:nvPicPr>
          <p:cNvPr id="205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1600200"/>
            <a:ext cx="7543799" cy="4241667"/>
          </a:xfrm>
          <a:prstGeom prst="rect">
            <a:avLst/>
          </a:prstGeom>
        </p:spPr>
      </p:pic>
      <p:pic>
        <p:nvPicPr>
          <p:cNvPr id="970" name="EventsCall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000" y="3550000"/>
            <a:ext cx="2350000" cy="1710925"/>
          </a:xfrm>
          <a:prstGeom prst="rect">
            <a:avLst/>
          </a:prstGeom>
          <a:effectLst>
            <a:outerShdw blurRad="80000" dist="40000" dir="5400000" rotWithShape="0">
              <a:srgbClr val="000000">
                <a:alpha val="40000"/>
              </a:srgbClr>
            </a:outerShdw>
          </a:effectLst>
        </p:spPr>
      </p:pic>
      <p:pic>
        <p:nvPicPr>
          <p:cNvPr id="971" name="MemCall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000" y="3650000"/>
            <a:ext cx="2500000" cy="876865"/>
          </a:xfrm>
          <a:prstGeom prst="rect">
            <a:avLst/>
          </a:prstGeom>
          <a:effectLst>
            <a:outerShdw blurRad="80000" dist="40000" dir="5400000" rotWithShape="0">
              <a:srgbClr val="000000">
                <a:alpha val="40000"/>
              </a:srgbClr>
            </a:outerShdw>
          </a:effectLst>
        </p:spPr>
      </p:pic>
      <p:sp>
        <p:nvSpPr>
          <p:cNvPr id="972" name="lbl"/>
          <p:cNvSpPr txBox="1"/>
          <p:nvPr/>
        </p:nvSpPr>
        <p:spPr>
          <a:xfrm>
            <a:off x="1900000" y="3270000"/>
            <a:ext cx="2350000" cy="28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100" b="1" dirty="0">
                <a:solidFill>
                  <a:srgbClr val="B45309"/>
                </a:solidFill>
                <a:latin typeface="Arial"/>
              </a:rPr>
              <a:t>AI decision (events log)</a:t>
            </a:r>
          </a:p>
        </p:txBody>
      </p:sp>
      <p:sp>
        <p:nvSpPr>
          <p:cNvPr id="973" name="lbl"/>
          <p:cNvSpPr txBox="1"/>
          <p:nvPr/>
        </p:nvSpPr>
        <p:spPr>
          <a:xfrm>
            <a:off x="4500000" y="3370000"/>
            <a:ext cx="2500000" cy="28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100" b="1" dirty="0">
                <a:solidFill>
                  <a:srgbClr val="B45309"/>
                </a:solidFill>
                <a:latin typeface="Arial"/>
              </a:rPr>
              <a:t>Memory change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Limitations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Text 1"/>
          <p:cNvSpPr/>
          <p:nvPr/>
        </p:nvSpPr>
        <p:spPr>
          <a:xfrm>
            <a:off x="640619" y="84983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292621"/>
                </a:solidFill>
                <a:latin typeface="Arial"/>
                <a:ea typeface="Arial"/>
                <a:cs typeface="Arial"/>
              </a:rPr>
              <a:t>Honest about what works -- and what is still being hardened.</a:t>
            </a:r>
            <a:endParaRPr lang="en-US" sz="1800"/>
          </a:p>
        </p:txBody>
      </p:sp>
      <p:sp>
        <p:nvSpPr>
          <p:cNvPr id="1401" name="Shape 8"/>
          <p:cNvSpPr/>
          <p:nvPr/>
        </p:nvSpPr>
        <p:spPr>
          <a:xfrm>
            <a:off x="546000" y="168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02" name="num"/>
          <p:cNvSpPr/>
          <p:nvPr/>
        </p:nvSpPr>
        <p:spPr>
          <a:xfrm>
            <a:off x="696000" y="168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226df6"/>
                </a:solidFill>
                <a:latin typeface="Arial"/>
                <a:cs typeface="Arial"/>
              </a:rPr>
              <a:t>01</a:t>
            </a:r>
            <a:endParaRPr lang="en-US" sz="4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3" name="h"/>
          <p:cNvSpPr/>
          <p:nvPr/>
        </p:nvSpPr>
        <p:spPr>
          <a:xfrm>
            <a:off x="1796000" y="168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26df6"/>
                </a:solidFill>
                <a:latin typeface="Arial"/>
                <a:cs typeface="Arial"/>
              </a:rPr>
              <a:t>LLM latency</a:t>
            </a:r>
            <a:endParaRPr lang="en-US" sz="2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4" name="d"/>
          <p:cNvSpPr/>
          <p:nvPr/>
        </p:nvSpPr>
        <p:spPr>
          <a:xfrm>
            <a:off x="4446000" y="168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Inference adds 1-2 s per decision;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PSI triggers early to buy time.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05" name="hi"/>
          <p:cNvSpPr/>
          <p:nvPr/>
        </p:nvSpPr>
        <p:spPr>
          <a:xfrm>
            <a:off x="9196000" y="168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local models could help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06" name="Shape 8"/>
          <p:cNvSpPr/>
          <p:nvPr/>
        </p:nvSpPr>
        <p:spPr>
          <a:xfrm>
            <a:off x="546000" y="299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07" name="num"/>
          <p:cNvSpPr/>
          <p:nvPr/>
        </p:nvSpPr>
        <p:spPr>
          <a:xfrm>
            <a:off x="696000" y="299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c0392b"/>
                </a:solidFill>
                <a:latin typeface="Arial"/>
                <a:cs typeface="Arial"/>
              </a:rPr>
              <a:t>02</a:t>
            </a:r>
            <a:endParaRPr lang="en-US" sz="40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08" name="h"/>
          <p:cNvSpPr/>
          <p:nvPr/>
        </p:nvSpPr>
        <p:spPr>
          <a:xfrm>
            <a:off x="1796000" y="299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c0392b"/>
                </a:solidFill>
                <a:latin typeface="Arial"/>
                <a:cs typeface="Arial"/>
              </a:rPr>
              <a:t>xv6 robustness</a:t>
            </a:r>
            <a:endParaRPr lang="en-US" sz="20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09" name="d"/>
          <p:cNvSpPr/>
          <p:nvPr/>
        </p:nvSpPr>
        <p:spPr>
          <a:xfrm>
            <a:off x="4446000" y="299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Core path verified (some_avg10 0 -&gt; 9%);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full_avg10 + edge cases still hardening.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10" name="hi"/>
          <p:cNvSpPr/>
          <p:nvPr/>
        </p:nvSpPr>
        <p:spPr>
          <a:xfrm>
            <a:off x="9196000" y="299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c0392b"/>
                </a:solidFill>
                <a:latin typeface="Arial"/>
                <a:cs typeface="Arial"/>
              </a:rPr>
              <a:t> heavy-load stability WIP</a:t>
            </a:r>
            <a:endParaRPr lang="en-US" sz="1400" b="1">
              <a:solidFill>
                <a:srgbClr val="c0392b"/>
              </a:solidFill>
              <a:latin typeface="Arial"/>
              <a:cs typeface="Arial"/>
            </a:endParaRPr>
          </a:p>
        </p:txBody>
      </p:sp>
      <p:sp>
        <p:nvSpPr>
          <p:cNvPr id="1411" name="Shape 8"/>
          <p:cNvSpPr/>
          <p:nvPr/>
        </p:nvSpPr>
        <p:spPr>
          <a:xfrm>
            <a:off x="546000" y="4300000"/>
            <a:ext cx="11100000" cy="1080000"/>
          </a:xfrm>
          <a:prstGeom prst="roundRect">
            <a:avLst>
              <a:gd name="adj" fmla="val 8000"/>
            </a:avLst>
          </a:prstGeom>
          <a:solidFill>
            <a:srgbClr val="e1ecfd"/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12" name="num"/>
          <p:cNvSpPr/>
          <p:nvPr/>
        </p:nvSpPr>
        <p:spPr>
          <a:xfrm>
            <a:off x="696000" y="4300000"/>
            <a:ext cx="10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226df6"/>
                </a:solidFill>
                <a:latin typeface="Arial"/>
                <a:cs typeface="Arial"/>
              </a:rPr>
              <a:t>03</a:t>
            </a:r>
            <a:endParaRPr lang="en-US" sz="4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3" name="h"/>
          <p:cNvSpPr/>
          <p:nvPr/>
        </p:nvSpPr>
        <p:spPr>
          <a:xfrm>
            <a:off x="1796000" y="4300000"/>
            <a:ext cx="2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000" b="1">
                <a:solidFill>
                  <a:srgbClr val="226df6"/>
                </a:solidFill>
                <a:latin typeface="Arial"/>
                <a:cs typeface="Arial"/>
              </a:rPr>
              <a:t>Edge cases</a:t>
            </a:r>
            <a:endParaRPr lang="en-US" sz="20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4" name="d"/>
          <p:cNvSpPr/>
          <p:nvPr/>
        </p:nvSpPr>
        <p:spPr>
          <a:xfrm>
            <a:off x="4446000" y="4300000"/>
            <a:ext cx="450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One LLM arithmetic slip (victim still correct);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  <a:p>
            <a:pPr marL="0" indent="0" algn="l">
              <a:buNone/>
              <a:defRPr/>
            </a:pPr>
            <a:r>
              <a:rPr lang="en-US" sz="1400">
                <a:solidFill>
                  <a:srgbClr val="292621"/>
                </a:solidFill>
                <a:latin typeface="Arial"/>
                <a:cs typeface="Arial"/>
              </a:rPr>
              <a:t>adversarial policies need more testing.</a:t>
            </a:r>
            <a:endParaRPr lang="en-US" sz="1400">
              <a:solidFill>
                <a:srgbClr val="292621"/>
              </a:solidFill>
              <a:latin typeface="Arial"/>
              <a:cs typeface="Arial"/>
            </a:endParaRPr>
          </a:p>
        </p:txBody>
      </p:sp>
      <p:sp>
        <p:nvSpPr>
          <p:cNvPr id="1415" name="hi"/>
          <p:cNvSpPr/>
          <p:nvPr/>
        </p:nvSpPr>
        <p:spPr>
          <a:xfrm>
            <a:off x="9196000" y="4300000"/>
            <a:ext cx="2350000" cy="108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400" b="1">
                <a:solidFill>
                  <a:srgbClr val="226df6"/>
                </a:solidFill>
                <a:latin typeface="Arial"/>
                <a:cs typeface="Arial"/>
              </a:rPr>
              <a:t> Validator is the backstop</a:t>
            </a:r>
            <a:endParaRPr lang="en-US" sz="1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416" name="bottom"/>
          <p:cNvSpPr/>
          <p:nvPr/>
        </p:nvSpPr>
        <p:spPr>
          <a:xfrm>
            <a:off x="640000" y="5550000"/>
            <a:ext cx="10912000" cy="5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292621"/>
                </a:solidFill>
                <a:latin typeface="Arial"/>
                <a:cs typeface="Arial"/>
              </a:rPr>
              <a:t>Safety net:  </a:t>
            </a:r>
            <a:r>
              <a:rPr lang="en-US" sz="1700" b="1">
                <a:solidFill>
                  <a:srgbClr val="226df6"/>
                </a:solidFill>
                <a:latin typeface="Arial"/>
                <a:cs typeface="Arial"/>
              </a:rPr>
              <a:t>the deterministic C Validator catches any bad LLM pick.</a:t>
            </a:r>
            <a:endParaRPr lang="en-US" sz="1700" b="1">
              <a:solidFill>
                <a:srgbClr val="226df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blipFill dpi="0" rotWithShape="1">
          <a:blip r:embed="rId2">
            <a:alphaModFix/>
          </a:blip>
          <a:srcRect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6023" y="265328"/>
            <a:ext cx="11239500" cy="826637"/>
          </a:xfrm>
          <a:prstGeom prst="rect">
            <a:avLst/>
          </a:prstGeom>
          <a:ln/>
        </p:spPr>
        <p:txBody>
          <a:bodyPr vert="horz" wrap="square" lIns="123825" tIns="123825" rIns="57150" bIns="123825" anchor="t" anchorCtr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Team Roles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65532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3" name="Text 2"/>
          <p:cNvSpPr/>
          <p:nvPr/>
        </p:nvSpPr>
        <p:spPr>
          <a:xfrm>
            <a:off x="655320" y="1950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PSI Monitor</a:t>
            </a:r>
            <a:endParaRPr lang="en-US" sz="1800"/>
          </a:p>
        </p:txBody>
      </p:sp>
      <p:sp>
        <p:nvSpPr>
          <p:cNvPr id="24" name="Text 3"/>
          <p:cNvSpPr/>
          <p:nvPr/>
        </p:nvSpPr>
        <p:spPr>
          <a:xfrm>
            <a:off x="838200" y="2389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reads /proc/</a:t>
            </a:r>
            <a:endParaRPr lang="en-US" sz="1250">
              <a:solidFill>
                <a:srgbClr val="292621"/>
              </a:solidFill>
              <a:latin typeface="Arial"/>
              <a:ea typeface="Arial"/>
              <a:cs typeface="Arial"/>
            </a:endParaRPr>
          </a:p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pressure/memory</a:t>
            </a:r>
            <a:endParaRPr lang="en-US" sz="1250"/>
          </a:p>
        </p:txBody>
      </p:sp>
      <p:sp>
        <p:nvSpPr>
          <p:cNvPr id="25" name="Text 4"/>
          <p:cNvSpPr/>
          <p:nvPr/>
        </p:nvSpPr>
        <p:spPr>
          <a:xfrm>
            <a:off x="83820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R1 · 강규현</a:t>
            </a:r>
            <a:endParaRPr lang="en-US" sz="1300"/>
          </a:p>
        </p:txBody>
      </p:sp>
      <p:sp>
        <p:nvSpPr>
          <p:cNvPr id="26" name="Shape 5"/>
          <p:cNvSpPr/>
          <p:nvPr/>
        </p:nvSpPr>
        <p:spPr>
          <a:xfrm>
            <a:off x="463296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7" name="Shape 6"/>
          <p:cNvSpPr/>
          <p:nvPr/>
        </p:nvSpPr>
        <p:spPr>
          <a:xfrm>
            <a:off x="4632960" y="1676400"/>
            <a:ext cx="2926080" cy="365760"/>
          </a:xfrm>
          <a:prstGeom prst="roundRect">
            <a:avLst>
              <a:gd name="adj" fmla="val 40000"/>
            </a:avLst>
          </a:prstGeom>
          <a:solidFill>
            <a:srgbClr val="7030a0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8" name="Text 7"/>
          <p:cNvSpPr/>
          <p:nvPr/>
        </p:nvSpPr>
        <p:spPr>
          <a:xfrm>
            <a:off x="4632960" y="1694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 b="1" kern="0" spc="200">
                <a:solidFill>
                  <a:schemeClr val="bg1"/>
                </a:solidFill>
                <a:latin typeface="Arial"/>
                <a:ea typeface="Arial"/>
                <a:cs typeface="Arial"/>
              </a:rPr>
              <a:t>ORCHESTRATOR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9" name="Text 8"/>
          <p:cNvSpPr/>
          <p:nvPr/>
        </p:nvSpPr>
        <p:spPr>
          <a:xfrm>
            <a:off x="4632960" y="21701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coomd daemon</a:t>
            </a:r>
            <a:endParaRPr lang="en-US" sz="1800"/>
          </a:p>
        </p:txBody>
      </p:sp>
      <p:sp>
        <p:nvSpPr>
          <p:cNvPr id="30" name="Text 9"/>
          <p:cNvSpPr/>
          <p:nvPr/>
        </p:nvSpPr>
        <p:spPr>
          <a:xfrm>
            <a:off x="4815840" y="2609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C · validator · signals</a:t>
            </a:r>
            <a:endParaRPr lang="en-US" sz="1250"/>
          </a:p>
        </p:txBody>
      </p:sp>
      <p:sp>
        <p:nvSpPr>
          <p:cNvPr id="31" name="Text 10"/>
          <p:cNvSpPr/>
          <p:nvPr/>
        </p:nvSpPr>
        <p:spPr>
          <a:xfrm>
            <a:off x="481584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R4 · 백선하</a:t>
            </a:r>
            <a:endParaRPr lang="en-US" sz="1300"/>
          </a:p>
        </p:txBody>
      </p:sp>
      <p:sp>
        <p:nvSpPr>
          <p:cNvPr id="32" name="Shape 11"/>
          <p:cNvSpPr/>
          <p:nvPr/>
        </p:nvSpPr>
        <p:spPr>
          <a:xfrm>
            <a:off x="8610600" y="1676400"/>
            <a:ext cx="2926080" cy="1920240"/>
          </a:xfrm>
          <a:prstGeom prst="roundRect">
            <a:avLst>
              <a:gd name="adj" fmla="val 7619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228600" dist="76200" dir="5400000" algn="bl" rotWithShape="0">
              <a:srgbClr val="8a7e6f">
                <a:alpha val="22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3" name="Text 12"/>
          <p:cNvSpPr/>
          <p:nvPr/>
        </p:nvSpPr>
        <p:spPr>
          <a:xfrm>
            <a:off x="8610600" y="1950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LLM Helper</a:t>
            </a:r>
            <a:endParaRPr lang="en-US" sz="1800"/>
          </a:p>
        </p:txBody>
      </p:sp>
      <p:sp>
        <p:nvSpPr>
          <p:cNvPr id="34" name="Text 13"/>
          <p:cNvSpPr/>
          <p:nvPr/>
        </p:nvSpPr>
        <p:spPr>
          <a:xfrm>
            <a:off x="8793480" y="23896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>
                <a:solidFill>
                  <a:srgbClr val="292621"/>
                </a:solidFill>
                <a:latin typeface="Arial"/>
                <a:ea typeface="Arial"/>
                <a:cs typeface="Arial"/>
              </a:rPr>
              <a:t>Python · Solar API</a:t>
            </a:r>
            <a:endParaRPr lang="en-US" sz="1250"/>
          </a:p>
        </p:txBody>
      </p:sp>
      <p:sp>
        <p:nvSpPr>
          <p:cNvPr id="35" name="Text 14"/>
          <p:cNvSpPr/>
          <p:nvPr/>
        </p:nvSpPr>
        <p:spPr>
          <a:xfrm>
            <a:off x="8793480" y="3066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R3 · 이승원</a:t>
            </a:r>
            <a:endParaRPr lang="en-US" sz="1300"/>
          </a:p>
        </p:txBody>
      </p:sp>
      <p:sp>
        <p:nvSpPr>
          <p:cNvPr id="36" name="Shape 15"/>
          <p:cNvSpPr/>
          <p:nvPr/>
        </p:nvSpPr>
        <p:spPr>
          <a:xfrm>
            <a:off x="3581400" y="2636520"/>
            <a:ext cx="1051560" cy="0"/>
          </a:xfrm>
          <a:prstGeom prst="line">
            <a:avLst/>
          </a:prstGeom>
          <a:noFill/>
          <a:ln w="31750">
            <a:solidFill>
              <a:srgbClr val="8e1a26"/>
            </a:solidFill>
            <a:prstDash val="solid"/>
            <a:tailEnd type="triangle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7" name="Text 16"/>
          <p:cNvSpPr/>
          <p:nvPr/>
        </p:nvSpPr>
        <p:spPr>
          <a:xfrm>
            <a:off x="3398520" y="2289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6862"/>
                </a:solidFill>
                <a:latin typeface="Arial"/>
                <a:ea typeface="Arial"/>
                <a:cs typeface="Arial"/>
              </a:rPr>
              <a:t>PSI event</a:t>
            </a:r>
            <a:endParaRPr lang="en-US" sz="1000"/>
          </a:p>
        </p:txBody>
      </p:sp>
      <p:sp>
        <p:nvSpPr>
          <p:cNvPr id="38" name="Shape 17"/>
          <p:cNvSpPr/>
          <p:nvPr/>
        </p:nvSpPr>
        <p:spPr>
          <a:xfrm>
            <a:off x="7559040" y="2636520"/>
            <a:ext cx="1051560" cy="0"/>
          </a:xfrm>
          <a:prstGeom prst="line">
            <a:avLst/>
          </a:prstGeom>
          <a:noFill/>
          <a:ln w="31750">
            <a:solidFill>
              <a:srgbClr val="8e1a26"/>
            </a:solidFill>
            <a:prstDash val="solid"/>
            <a:headEnd type="triangle"/>
            <a:tailEnd type="triangle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9" name="Text 18"/>
          <p:cNvSpPr/>
          <p:nvPr/>
        </p:nvSpPr>
        <p:spPr>
          <a:xfrm>
            <a:off x="7376160" y="2289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b6862"/>
                </a:solidFill>
                <a:latin typeface="Arial"/>
                <a:ea typeface="Arial"/>
                <a:cs typeface="Arial"/>
              </a:rPr>
              <a:t>pipe (JSON)</a:t>
            </a:r>
            <a:endParaRPr lang="en-US" sz="1000"/>
          </a:p>
        </p:txBody>
      </p:sp>
      <p:sp>
        <p:nvSpPr>
          <p:cNvPr id="40" name="Shape 19"/>
          <p:cNvSpPr/>
          <p:nvPr/>
        </p:nvSpPr>
        <p:spPr>
          <a:xfrm>
            <a:off x="655320" y="4008120"/>
            <a:ext cx="10881360" cy="1600200"/>
          </a:xfrm>
          <a:prstGeom prst="roundRect">
            <a:avLst>
              <a:gd name="adj" fmla="val 9143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1" name="Text 20"/>
          <p:cNvSpPr/>
          <p:nvPr/>
        </p:nvSpPr>
        <p:spPr>
          <a:xfrm>
            <a:off x="929640" y="4236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R2 · 이유진  </a:t>
            </a:r>
            <a:r>
              <a:rPr lang="en-US" sz="1450">
                <a:solidFill>
                  <a:srgbClr val="292621"/>
                </a:solidFill>
                <a:latin typeface="Arial"/>
                <a:ea typeface="Arial"/>
                <a:cs typeface="Arial"/>
              </a:rPr>
              <a:t>/proc Reader — collects real process candidates         </a:t>
            </a:r>
            <a:r>
              <a:rPr lang="en-US" sz="14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R5 · 노혁준  </a:t>
            </a:r>
            <a:r>
              <a:rPr lang="en-US" sz="1450">
                <a:solidFill>
                  <a:srgbClr val="292621"/>
                </a:solidFill>
                <a:latin typeface="Arial"/>
                <a:ea typeface="Arial"/>
                <a:cs typeface="Arial"/>
              </a:rPr>
              <a:t>Integration testing &amp; evaluation</a:t>
            </a:r>
            <a:endParaRPr lang="en-US" sz="1450"/>
          </a:p>
        </p:txBody>
      </p:sp>
      <p:sp>
        <p:nvSpPr>
          <p:cNvPr id="42" name="Shape 21"/>
          <p:cNvSpPr/>
          <p:nvPr/>
        </p:nvSpPr>
        <p:spPr>
          <a:xfrm>
            <a:off x="929640" y="4803648"/>
            <a:ext cx="10332720" cy="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3" name="Text 22"/>
          <p:cNvSpPr/>
          <p:nvPr/>
        </p:nvSpPr>
        <p:spPr>
          <a:xfrm>
            <a:off x="929640" y="4922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57111c"/>
                </a:solidFill>
                <a:latin typeface="Arial"/>
                <a:ea typeface="Arial"/>
                <a:cs typeface="Arial"/>
              </a:rPr>
              <a:t>OS concepts: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fork + exec + pipe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(process creation &amp; IPC), 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signals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(SIGTERM</a:t>
            </a:r>
            <a:r>
              <a:rPr lang="en-US" sz="1350" b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-&gt;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SIGKILL), 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PSI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&amp; </a:t>
            </a:r>
            <a:r>
              <a:rPr lang="en-US" sz="1350" b="1">
                <a:solidFill>
                  <a:srgbClr val="292621"/>
                </a:solidFill>
                <a:latin typeface="Arial"/>
                <a:ea typeface="Arial"/>
                <a:cs typeface="Arial"/>
              </a:rPr>
              <a:t>/proc</a:t>
            </a:r>
            <a:r>
              <a:rPr lang="en-US" sz="1350" i="1">
                <a:solidFill>
                  <a:srgbClr val="292621"/>
                </a:solidFill>
                <a:latin typeface="Arial"/>
                <a:ea typeface="Arial"/>
                <a:cs typeface="Arial"/>
              </a:rPr>
              <a:t> — a real OS design, not just an API call.</a:t>
            </a:r>
            <a:endParaRPr lang="en-US" sz="1350" i="1">
              <a:solidFill>
                <a:srgbClr val="29262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ThankYou"/>
          <p:cNvSpPr/>
          <p:nvPr/>
        </p:nvSpPr>
        <p:spPr>
          <a:xfrm>
            <a:off x="1146000" y="2350000"/>
            <a:ext cx="9900000" cy="11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5400" b="1">
                <a:solidFill>
                  <a:srgbClr val="226df6"/>
                </a:solidFill>
                <a:latin typeface="Arial"/>
                <a:cs typeface="Arial"/>
              </a:rPr>
              <a:t>Thank you</a:t>
            </a:r>
            <a:endParaRPr lang="en-US" sz="5400" b="1">
              <a:solidFill>
                <a:srgbClr val="226df6"/>
              </a:solidFill>
              <a:latin typeface="Arial"/>
              <a:cs typeface="Arial"/>
            </a:endParaRPr>
          </a:p>
        </p:txBody>
      </p:sp>
      <p:sp>
        <p:nvSpPr>
          <p:cNvPr id="1342" name="sub1"/>
          <p:cNvSpPr/>
          <p:nvPr/>
        </p:nvSpPr>
        <p:spPr>
          <a:xfrm>
            <a:off x="1146000" y="3650000"/>
            <a:ext cx="9900000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292621"/>
                </a:solidFill>
                <a:latin typeface="Arial"/>
                <a:cs typeface="Arial"/>
              </a:rPr>
              <a:t>Conversational OOM Killer   ·   Team RSP</a:t>
            </a:r>
            <a:endParaRPr lang="en-US" sz="1800" b="1">
              <a:solidFill>
                <a:srgbClr val="29262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226df6"/>
      </a:dk2>
      <a:lt2>
        <a:srgbClr val="f9f9f9"/>
      </a:lt2>
      <a:accent1>
        <a:srgbClr val="226df6"/>
      </a:accent1>
      <a:accent2>
        <a:srgbClr val="387cf7"/>
      </a:accent2>
      <a:accent3>
        <a:srgbClr val="4e8af8"/>
      </a:accent3>
      <a:accent4>
        <a:srgbClr val="6499f9"/>
      </a:accent4>
      <a:accent5>
        <a:srgbClr val="7aa7fa"/>
      </a:accent5>
      <a:accent6>
        <a:srgbClr val="90b6f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912</ep:Words>
  <ep:PresentationFormat>와이드스크린</ep:PresentationFormat>
  <ep:Paragraphs>154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백선하</dc:creator>
  <cp:lastModifiedBy>노혁준</cp:lastModifiedBy>
  <dcterms:modified xsi:type="dcterms:W3CDTF">2026-06-08T06:29:32.710</dcterms:modified>
  <cp:revision>46</cp:revision>
  <cp:version/>
</cp:coreProperties>
</file>